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46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37160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292608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rPr dirty="0"/>
              <a:t>Q2 2026 OKR </a:t>
            </a:r>
            <a:r>
              <a:rPr lang="en-US" dirty="0"/>
              <a:t>DDP-PAM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dirty="0"/>
              <a:t>Detail Report: Pipeline &amp; Connector</a:t>
            </a:r>
            <a:br>
              <a:rPr dirty="0"/>
            </a:br>
            <a:r>
              <a:rPr dirty="0"/>
              <a:t>Configurations</a:t>
            </a:r>
          </a:p>
          <a:p>
            <a:pPr>
              <a:spcBef>
                <a:spcPts val="1200"/>
              </a:spcBef>
              <a:defRPr sz="1600">
                <a:solidFill>
                  <a:srgbClr val="38BDF8"/>
                </a:solidFill>
              </a:defRPr>
            </a:pPr>
            <a:r>
              <a:rPr dirty="0"/>
              <a:t>Standardizing AI Verify Moonshot Assessment Pipelines &amp; Zero-Crash Endpoint Connectors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TARGET ENDPOINTS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8 Configs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ACTUAL DELIVERED</a:t>
            </a:r>
          </a:p>
          <a:p>
            <a:pPr algn="ctr">
              <a:defRPr sz="1400" b="1">
                <a:solidFill>
                  <a:srgbClr val="34D399"/>
                </a:solidFill>
              </a:defRPr>
            </a:pPr>
            <a:r>
              <a:t>19 Configs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ACHIEVEMENT</a:t>
            </a:r>
          </a:p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238%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297680"/>
            <a:ext cx="22860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CONNECTORS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14 Python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Security &amp; AI Governance | PAM Enterprise AI Security Project | Telkom Group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Executive Performance Summary &amp; 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VERIFIED ENDPOINTS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19 Configs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Target: 8 Endpoints (238% 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CONNECTOR SCRIPTS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14 Python Files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Custom &amp; standardized connectors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ERROR HANDLING</a:t>
            </a:r>
          </a:p>
          <a:p>
            <a:pPr>
              <a:spcBef>
                <a:spcPts val="400"/>
              </a:spcBef>
              <a:defRPr sz="1400" b="1">
                <a:solidFill>
                  <a:srgbClr val="FBBF24"/>
                </a:solidFill>
              </a:defRPr>
            </a:pPr>
            <a:r>
              <a:t>HTTP 403 / 405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Graceful LiteLLM block catching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63040"/>
            <a:ext cx="25603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PIPELINE STABILITY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100% ZERO-CRASH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Seamless Moonshot execution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Definition of Done (DoD) &amp; Core Technical Accomplishments: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4D399"/>
                </a:solidFill>
              </a:rPr>
              <a:t>•  Substantial Target Exceedance (238%): </a:t>
            </a:r>
            <a:r>
              <a:rPr sz="1100">
                <a:solidFill>
                  <a:srgbClr val="F8FAFC"/>
                </a:solidFill>
              </a:rPr>
              <a:t>Configured and verified 19 model endpoint JSON configurations (target: 8) covering local models, commercial APIs, open-source models, and automated LLM evaluators.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4D399"/>
                </a:solidFill>
              </a:rPr>
              <a:t>•  AI Verify Moonshot Integration: </a:t>
            </a:r>
            <a:r>
              <a:rPr sz="1100">
                <a:solidFill>
                  <a:srgbClr val="F8FAFC"/>
                </a:solidFill>
              </a:rPr>
              <a:t>Standardized integration with Singapore's AI Verify Moonshot testing suite (web-api on :5001, web-ui on :3001) for automated benchmark suite execution.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4D399"/>
                </a:solidFill>
              </a:rPr>
              <a:t>•  Resilient Connector Engineering: </a:t>
            </a:r>
            <a:r>
              <a:rPr sz="1100">
                <a:solidFill>
                  <a:srgbClr val="F8FAFC"/>
                </a:solidFill>
              </a:rPr>
              <a:t>Modified telkom-connector.py and openai-connector.py to intercept HTTP 403 Forbidden / 405 Method Not Allowed responses returned by LiteLLM Guardrails.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4D399"/>
                </a:solidFill>
              </a:rPr>
              <a:t>•  Zero-Crash Benchmark Execution: </a:t>
            </a:r>
            <a:r>
              <a:rPr sz="1100">
                <a:solidFill>
                  <a:srgbClr val="F8FAFC"/>
                </a:solidFill>
              </a:rPr>
              <a:t>Eliminated unhandled exception crashes during long evaluation runs, converting gateway security blocks into valid test defense logs.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34D399"/>
                </a:solidFill>
              </a:rPr>
              <a:t>•  Multi-Provider Interoperability: </a:t>
            </a:r>
            <a:r>
              <a:rPr sz="1100">
                <a:solidFill>
                  <a:srgbClr val="F8FAFC"/>
                </a:solidFill>
              </a:rPr>
              <a:t>Enabled evaluation across Ollama (Llama 3/3.1), OpenAI (GPT-4o/GPT-3.5), Azure OpenAI, Together AI (Gemma 2/Llama 3.1 405B), HuggingFace (DeepSeek R1), and Google Gemini.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AI Verify Moonshot Assessment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Benchmark Runner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Moonshot Web UI (:3001) triggers evaluation run via Moonshot Web API (:5001)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2. Recipe &amp; Endpoint Selection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Moonshot selects test recipes &amp; targets 1 of 19 verified endpoint JSON configs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3. Custom Connector Execution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Python connector routes prompt through LiteLLM Gateway (:4000) with 403/405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630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4. Automated Scoring &amp; Report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LLM Judge / Annotator grades output and exports structured JSON &amp; PDF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728655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Key Pipeline Standardization Strengths: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4D399"/>
                </a:solidFill>
              </a:rPr>
              <a:t>✔  Modular Connector Protocol: </a:t>
            </a:r>
            <a:r>
              <a:rPr sz="1050">
                <a:solidFill>
                  <a:srgbClr val="F8FAFC"/>
                </a:solidFill>
              </a:rPr>
              <a:t>14 specialized Python connectors allow plug-and-play addition of new LLMs without modifying core Moonshot execution logic.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4D399"/>
                </a:solidFill>
              </a:rPr>
              <a:t>✔  Zero-Crash Fault Isolation: </a:t>
            </a:r>
            <a:r>
              <a:rPr sz="1050">
                <a:solidFill>
                  <a:srgbClr val="F8FAFC"/>
                </a:solidFill>
              </a:rPr>
              <a:t>Custom exception handling isolates gateway status codes (HTTP 403/405), protecting multi-hour batch benchmark runs from abrupt crashes.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4D399"/>
                </a:solidFill>
              </a:rPr>
              <a:t>✔  Standardized Evaluation Rubrics: </a:t>
            </a:r>
            <a:r>
              <a:rPr sz="1050">
                <a:solidFill>
                  <a:srgbClr val="F8FAFC"/>
                </a:solidFill>
              </a:rPr>
              <a:t>Automated LLM-as-a-Judge endpoints (GPT-4) provide objective, reproducible security scoring across all connected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Verified Endpoints Inventory (Local Gateway &amp; Commercial APIs)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212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Config File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Model Target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Protocol / Route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gemma.json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gemma-4-26B-A4B-it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HTTPS /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telkom-ai.json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telkom-ai-v1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HTTP / Direct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telkom-ai-v2.json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telkom-ai-v2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HTTPS / LiteLLM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ollama-llama3.json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llama3:8b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HTTP / Ollama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ollama-llama31.json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llama3.1:8b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HTTP / Ollama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Local &amp; Internal Model Scope: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Connects internal Telkom AI &amp; Gemma models via LiteLLM.</a:t>
            </a:r>
            <a:br/>
            <a:r>
              <a:t>• Enables offline benchmark execution using local Ollama endpoints.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2422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Config File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Model Target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Protocol / Route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openai-gpt4o.json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OpenAI Direct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openai-gpt35-turbo.json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gpt-3.5-turbo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OpenAI Direct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openai-gpt35-turbo-16k.json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gpt-3.5-turbo-16k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OpenAI Direct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openai-gpt4.json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gpt-4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OpenAI Direct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azure-openai-gpt4o.json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azure-openai-gpt4-turbo.json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gpt-4-turbo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D399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Verified Endpoints Inventory (OSS Models &amp; Evaluators)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212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Config File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Model Target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Protocol / Route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together-gemma2-27b.json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Gemma 2 27B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Together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together-llama-405b.json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Llama 3.1 405B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Together AI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huggingface-deepseekr1.json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DeepSeek R1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HuggingFace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google-gemini-flash-15.json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Gemini 1.5 Flash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Google Vertex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google-gemini-pro-15.json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Gemini 1.5 Pro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4D399"/>
                          </a:solidFill>
                        </a:defRPr>
                      </a:pPr>
                      <a:r>
                        <a:t>Google Vertex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Open-Source &amp; Frontier Model Coverage: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Integrates Together AI, HuggingFace, &amp; Google Gemini endpoints.</a:t>
            </a:r>
            <a:br/>
            <a:r>
              <a:t>• Enables comparative benchmark analysis against top global models.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2422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Config File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Model Target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Protocol / Route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llm-judge-openai-gpt4.json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LLM-as-a-Judge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BBF24"/>
                          </a:solidFill>
                        </a:defRPr>
                      </a:pPr>
                      <a:r>
                        <a:t>OpenAI GPT-4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llm-judge-azure-gpt4.json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LLM-as-a-Judge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BBF24"/>
                          </a:solidFill>
                        </a:defRPr>
                      </a:pPr>
                      <a:r>
                        <a:t>Azure GPT-4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refusal-evaluator.json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Refusal Matcher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FBBF24"/>
                          </a:solidFill>
                        </a:defRPr>
                      </a:pPr>
                      <a:r>
                        <a:t>Regex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114800"/>
            <a:ext cx="524225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Automated Grading &amp; Evaluator Engines: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GPT-4 Annotator endpoints automate objective score grading.</a:t>
            </a:r>
            <a:br/>
            <a:r>
              <a:t>• Rule-based refusal evaluator detects explicit safety rejection signatures.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Custom Connector Engineering &amp; Zero-Crash Error Handlers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0A0F1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# Resilient Exception Handler (telkom-connector.py)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Consolas"/>
              </a:defRPr>
            </a:pPr>
            <a:r>
              <a:t>def send_prompt_to_gateway(endpoint, payload, headers):</a:t>
            </a:r>
            <a:br/>
            <a:r>
              <a:t>    try:</a:t>
            </a:r>
            <a:br/>
            <a:r>
              <a:t>        response = requests.post(endpoint, json=payload, </a:t>
            </a:r>
            <a:br/>
            <a:r>
              <a:t>                                 headers=headers, timeout=30)</a:t>
            </a:r>
            <a:br/>
            <a:r>
              <a:t>        response.raise_for_status()</a:t>
            </a:r>
            <a:br/>
            <a:r>
              <a:t>        return response.json()["choices"][0]["message"]["content"]</a:t>
            </a:r>
            <a:br/>
            <a:r>
              <a:t>    except requests.exceptions.HTTPError as err:</a:t>
            </a:r>
            <a:br/>
            <a:r>
              <a:t>        if err.response.status_code in [403, 405]:</a:t>
            </a:r>
            <a:br/>
            <a:r>
              <a:t>            # Gracefully log guardrail block</a:t>
            </a:r>
            <a:br/>
            <a:r>
              <a:t>            logger.info(f"Guardrail Block Intercepted "</a:t>
            </a:r>
            <a:br/>
            <a:r>
              <a:t>                        f"[HTTP {err.response.status_code}]")</a:t>
            </a:r>
            <a:br/>
            <a:r>
              <a:t>            return "[SECURITY_GUARDRAIL_BLOCKED]"</a:t>
            </a:r>
            <a:br/>
            <a:r>
              <a:t>        else:</a:t>
            </a:r>
            <a:br/>
            <a:r>
              <a:t>            raise err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7850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Custom Connectors Engineering (14 Python Files):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38BDF8"/>
                </a:solidFill>
              </a:rPr>
              <a:t>•  Enhanced Connectors: </a:t>
            </a:r>
            <a:r>
              <a:rPr sz="1000">
                <a:solidFill>
                  <a:srgbClr val="F8FAFC"/>
                </a:solidFill>
              </a:rPr>
              <a:t>telkom-connector.py &amp; openai-connector.py updated with custom status code interception.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38BDF8"/>
                </a:solidFill>
              </a:rPr>
              <a:t>•  HTTP 403/405 Interception: </a:t>
            </a:r>
            <a:r>
              <a:rPr sz="1000">
                <a:solidFill>
                  <a:srgbClr val="F8FAFC"/>
                </a:solidFill>
              </a:rPr>
              <a:t>LiteLLM Gateway signals guardrail interventions via HTTP 403 Forbidden / 405 Method Not Allowed.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38BDF8"/>
                </a:solidFill>
              </a:rPr>
              <a:t>•  Zero-Crash Execution Rate: </a:t>
            </a:r>
            <a:r>
              <a:rPr sz="1000">
                <a:solidFill>
                  <a:srgbClr val="F8FAFC"/>
                </a:solidFill>
              </a:rPr>
              <a:t>Exceptions are logged as successful security blocks rather than causing benchmark runner crashes.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38BDF8"/>
                </a:solidFill>
              </a:rPr>
              <a:t>•  Full Connector Suite: </a:t>
            </a:r>
            <a:r>
              <a:rPr sz="1000">
                <a:solidFill>
                  <a:srgbClr val="F8FAFC"/>
                </a:solidFill>
              </a:rPr>
              <a:t>14 connectors support Bedrock, Anthropic, Azure, Google Gemini, HuggingFace, Together AI, &amp; FlagEval.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AI Verify Moonshot Setup Gallery (UI &amp; Endpoint Configs)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📷 AI Verify Moonshot Web UI Dashboard (http://localhost:3001)</a:t>
            </a:r>
          </a:p>
        </p:txBody>
      </p:sp>
      <p:pic>
        <p:nvPicPr>
          <p:cNvPr id="6" name="Picture 5" descr="ui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93776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📷 Endpoint Creation &amp; Verification Interface</a:t>
            </a:r>
          </a:p>
        </p:txBody>
      </p:sp>
      <p:pic>
        <p:nvPicPr>
          <p:cNvPr id="8" name="Picture 7" descr="create_end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377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AI Verify Moonshot Execution &amp; Assessment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📷 Benchmark Suite Execution Progress &amp; Status Monitor</a:t>
            </a:r>
          </a:p>
        </p:txBody>
      </p:sp>
      <p:pic>
        <p:nvPicPr>
          <p:cNvPr id="6" name="Picture 5" descr="run_progress(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493776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📷 Verified Assessment Report Output (PDF / HTML Score Summary)</a:t>
            </a:r>
          </a:p>
        </p:txBody>
      </p:sp>
      <p:pic>
        <p:nvPicPr>
          <p:cNvPr id="8" name="Picture 7" descr="report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9377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OKR KR2 DETAIL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rPr lang="en-US" dirty="0"/>
              <a:t>PLAN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34D399"/>
                </a:solidFill>
              </a:defRPr>
            </a:pPr>
            <a:r>
              <a:t>Q2 2026 (Completed)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19 Endpoint Configurations</a:t>
            </a:r>
            <a:br/>
            <a:r>
              <a:t>• 14 Custom Python Connectors</a:t>
            </a:r>
            <a:br/>
            <a:r>
              <a:t>• AI Verify Moonshot Integration</a:t>
            </a:r>
            <a:br/>
            <a:r>
              <a:t>• HTTP 403/405 Zero-Crash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Q3 2026 (Planned)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Indonesian Testbed Expansion</a:t>
            </a:r>
            <a:br/>
            <a:r>
              <a:t>• Local Dataset Integration</a:t>
            </a:r>
            <a:br/>
            <a:r>
              <a:t>• Indonesian Fact &amp; Cultural Risk</a:t>
            </a:r>
            <a:br/>
            <a:r>
              <a:t>• RAG Hallucination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7472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t>Q4 2026 (Roadmap)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Release Candidate Certification</a:t>
            </a:r>
            <a:br/>
            <a:r>
              <a:t>• Full Run Verification</a:t>
            </a:r>
            <a:br/>
            <a:r>
              <a:t>• Automated CI/CD Benchmarking</a:t>
            </a:r>
            <a:br/>
            <a:r>
              <a:t>• Low-Risk ('A') Safety Certification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1128</Words>
  <Application>Microsoft Office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Faldy Maulana Yuantoro</cp:lastModifiedBy>
  <cp:revision>2</cp:revision>
  <dcterms:created xsi:type="dcterms:W3CDTF">2013-01-27T09:14:16Z</dcterms:created>
  <dcterms:modified xsi:type="dcterms:W3CDTF">2026-07-29T16:03:47Z</dcterms:modified>
  <cp:category/>
</cp:coreProperties>
</file>