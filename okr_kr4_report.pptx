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731520" y="1371600"/>
            <a:ext cx="10728655" cy="411480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1097280" y="1737360"/>
            <a:ext cx="2926080" cy="365760"/>
          </a:xfrm>
          <a:prstGeom prst="round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F8FAFC"/>
                </a:solidFill>
              </a:defRPr>
            </a:pPr>
            <a:r>
              <a:t>Q2 2026 OKR ACHIEVEMENT: 193%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" y="2286000"/>
            <a:ext cx="1005840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F8FAFC"/>
                </a:solidFill>
              </a:defRPr>
            </a:pPr>
            <a:r>
              <a:t>KR 4 Detail Report: LiteLLM Guardrails &amp;</a:t>
            </a:r>
            <a:br/>
            <a:r>
              <a:t>Content Filter Setup</a:t>
            </a:r>
          </a:p>
          <a:p>
            <a:pPr>
              <a:spcBef>
                <a:spcPts val="1200"/>
              </a:spcBef>
              <a:defRPr sz="1600">
                <a:solidFill>
                  <a:srgbClr val="38BDF8"/>
                </a:solidFill>
              </a:defRPr>
            </a:pPr>
            <a:r>
              <a:t>Sovereign API Gateway Threat Interception &amp; Content Filtering Framework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097280" y="4297680"/>
            <a:ext cx="2286000" cy="822960"/>
          </a:xfrm>
          <a:prstGeom prst="roundRect">
            <a:avLst/>
          </a:prstGeom>
          <a:solidFill>
            <a:srgbClr val="0F172A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900" b="1">
                <a:solidFill>
                  <a:srgbClr val="94A3B8"/>
                </a:solidFill>
              </a:defRPr>
            </a:pPr>
            <a:r>
              <a:t>TARGET RULES</a:t>
            </a:r>
          </a:p>
          <a:p>
            <a:pPr algn="ctr">
              <a:defRPr sz="1400" b="1">
                <a:solidFill>
                  <a:srgbClr val="38BDF8"/>
                </a:solidFill>
              </a:defRPr>
            </a:pPr>
            <a:r>
              <a:t>15 Rules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566160" y="4297680"/>
            <a:ext cx="2286000" cy="822960"/>
          </a:xfrm>
          <a:prstGeom prst="roundRect">
            <a:avLst/>
          </a:prstGeom>
          <a:solidFill>
            <a:srgbClr val="0F172A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900" b="1">
                <a:solidFill>
                  <a:srgbClr val="94A3B8"/>
                </a:solidFill>
              </a:defRPr>
            </a:pPr>
            <a:r>
              <a:t>ACTUAL DELIVERED</a:t>
            </a:r>
          </a:p>
          <a:p>
            <a:pPr algn="ctr">
              <a:defRPr sz="1400" b="1">
                <a:solidFill>
                  <a:srgbClr val="34D399"/>
                </a:solidFill>
              </a:defRPr>
            </a:pPr>
            <a:r>
              <a:t>29 Rules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035040" y="4297680"/>
            <a:ext cx="2286000" cy="822960"/>
          </a:xfrm>
          <a:prstGeom prst="roundRect">
            <a:avLst/>
          </a:prstGeom>
          <a:solidFill>
            <a:srgbClr val="0F172A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900" b="1">
                <a:solidFill>
                  <a:srgbClr val="94A3B8"/>
                </a:solidFill>
              </a:defRPr>
            </a:pPr>
            <a:r>
              <a:t>ACHIEVEMENT</a:t>
            </a:r>
          </a:p>
          <a:p>
            <a:pPr algn="ctr">
              <a:defRPr sz="1400" b="1">
                <a:solidFill>
                  <a:srgbClr val="34D399"/>
                </a:solidFill>
              </a:defRPr>
            </a:pPr>
            <a:r>
              <a:t>193%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503920" y="4297680"/>
            <a:ext cx="2286000" cy="822960"/>
          </a:xfrm>
          <a:prstGeom prst="roundRect">
            <a:avLst/>
          </a:prstGeom>
          <a:solidFill>
            <a:srgbClr val="0F172A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900" b="1">
                <a:solidFill>
                  <a:srgbClr val="94A3B8"/>
                </a:solidFill>
              </a:defRPr>
            </a:pPr>
            <a:r>
              <a:t>ENFORCEMENT</a:t>
            </a:r>
          </a:p>
          <a:p>
            <a:pPr algn="ctr">
              <a:defRPr sz="1400" b="1">
                <a:solidFill>
                  <a:srgbClr val="38BDF8"/>
                </a:solidFill>
              </a:defRPr>
            </a:pPr>
            <a:r>
              <a:t>MEDIUM Block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621792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94A3B8"/>
                </a:solidFill>
              </a:defRPr>
            </a:pPr>
            <a:r>
              <a:t>Security &amp; AI Governance | PAM Enterprise AI Security Project | Telkom Group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38BDF8"/>
                </a:solidFill>
                <a:latin typeface="Calibri"/>
              </a:defRPr>
            </a:pPr>
            <a:r>
              <a:t>OKR KR4 DETAIL REPORT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594360"/>
            <a:ext cx="10698480" cy="5486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200" b="1">
                <a:solidFill>
                  <a:srgbClr val="F8FAFC"/>
                </a:solidFill>
                <a:latin typeface="Calibri"/>
              </a:defRPr>
            </a:pPr>
            <a:r>
              <a:t>Executive Performance Summary &amp; DoD Verification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188720"/>
            <a:ext cx="10728655" cy="18288"/>
          </a:xfrm>
          <a:prstGeom prst="rect">
            <a:avLst/>
          </a:prstGeom>
          <a:solidFill>
            <a:srgbClr val="334155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731520" y="1463040"/>
            <a:ext cx="2560320" cy="128016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34D3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900" b="1">
                <a:solidFill>
                  <a:srgbClr val="94A3B8"/>
                </a:solidFill>
              </a:defRPr>
            </a:pPr>
            <a:r>
              <a:t>ACTIVE GUARDRAILS</a:t>
            </a:r>
          </a:p>
          <a:p>
            <a:pPr>
              <a:spcBef>
                <a:spcPts val="400"/>
              </a:spcBef>
              <a:defRPr sz="1400" b="1">
                <a:solidFill>
                  <a:srgbClr val="34D399"/>
                </a:solidFill>
              </a:defRPr>
            </a:pPr>
            <a:r>
              <a:t>29 Rules</a:t>
            </a:r>
          </a:p>
          <a:p>
            <a:pPr>
              <a:spcBef>
                <a:spcPts val="400"/>
              </a:spcBef>
              <a:defRPr sz="900">
                <a:solidFill>
                  <a:srgbClr val="F8FAFC"/>
                </a:solidFill>
              </a:defRPr>
            </a:pPr>
            <a:r>
              <a:t>Target: 15 Rules (193% Rate)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456432" y="1463040"/>
            <a:ext cx="2560320" cy="128016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900" b="1">
                <a:solidFill>
                  <a:srgbClr val="94A3B8"/>
                </a:solidFill>
              </a:defRPr>
            </a:pPr>
            <a:r>
              <a:t>ENFORCEMENT POLICY</a:t>
            </a:r>
          </a:p>
          <a:p>
            <a:pPr>
              <a:spcBef>
                <a:spcPts val="400"/>
              </a:spcBef>
              <a:defRPr sz="1400" b="1">
                <a:solidFill>
                  <a:srgbClr val="38BDF8"/>
                </a:solidFill>
              </a:defRPr>
            </a:pPr>
            <a:r>
              <a:t>MEDIUM / BLOCK</a:t>
            </a:r>
          </a:p>
          <a:p>
            <a:pPr>
              <a:spcBef>
                <a:spcPts val="400"/>
              </a:spcBef>
              <a:defRPr sz="900">
                <a:solidFill>
                  <a:srgbClr val="F8FAFC"/>
                </a:solidFill>
              </a:defRPr>
            </a:pPr>
            <a:r>
              <a:t>Strict pre-execution filter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181344" y="1463040"/>
            <a:ext cx="2560320" cy="128016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FBBF2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900" b="1">
                <a:solidFill>
                  <a:srgbClr val="94A3B8"/>
                </a:solidFill>
              </a:defRPr>
            </a:pPr>
            <a:r>
              <a:t>COST &amp; LATENCY</a:t>
            </a:r>
          </a:p>
          <a:p>
            <a:pPr>
              <a:spcBef>
                <a:spcPts val="400"/>
              </a:spcBef>
              <a:defRPr sz="1400" b="1">
                <a:solidFill>
                  <a:srgbClr val="FBBF24"/>
                </a:solidFill>
              </a:defRPr>
            </a:pPr>
            <a:r>
              <a:t>ZERO COST / ZERO LATENCY</a:t>
            </a:r>
          </a:p>
          <a:p>
            <a:pPr>
              <a:spcBef>
                <a:spcPts val="400"/>
              </a:spcBef>
              <a:defRPr sz="900">
                <a:solidFill>
                  <a:srgbClr val="F8FAFC"/>
                </a:solidFill>
              </a:defRPr>
            </a:pPr>
            <a:r>
              <a:t>Inline gateway native filter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906256" y="1463040"/>
            <a:ext cx="2560320" cy="128016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34D3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900" b="1">
                <a:solidFill>
                  <a:srgbClr val="94A3B8"/>
                </a:solidFill>
              </a:defRPr>
            </a:pPr>
            <a:r>
              <a:t>SECURITY VALIDATION</a:t>
            </a:r>
          </a:p>
          <a:p>
            <a:pPr>
              <a:spcBef>
                <a:spcPts val="400"/>
              </a:spcBef>
              <a:defRPr sz="1400" b="1">
                <a:solidFill>
                  <a:srgbClr val="34D399"/>
                </a:solidFill>
              </a:defRPr>
            </a:pPr>
            <a:r>
              <a:t>100% / 81%</a:t>
            </a:r>
          </a:p>
          <a:p>
            <a:pPr>
              <a:spcBef>
                <a:spcPts val="400"/>
              </a:spcBef>
              <a:defRPr sz="900">
                <a:solidFill>
                  <a:srgbClr val="F8FAFC"/>
                </a:solidFill>
              </a:defRPr>
            </a:pPr>
            <a:r>
              <a:t>Data Disclosure &amp; Adv. Rejection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2926080"/>
            <a:ext cx="10728655" cy="3383280"/>
          </a:xfrm>
          <a:prstGeom prst="roundRect">
            <a:avLst/>
          </a:prstGeom>
          <a:solidFill>
            <a:srgbClr val="1E293B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274320"/>
          <a:lstStyle/>
          <a:p>
            <a:pPr algn="ctr">
              <a:defRPr sz="1400" b="1">
                <a:solidFill>
                  <a:srgbClr val="38BDF8"/>
                </a:solidFill>
              </a:defRPr>
            </a:pPr>
            <a:r>
              <a:t>Definition of Done (DoD) &amp; Core Technical Achievements:</a:t>
            </a:r>
          </a:p>
          <a:p>
            <a:pPr>
              <a:spcBef>
                <a:spcPts val="800"/>
              </a:spcBef>
            </a:pPr>
            <a:r>
              <a:rPr b="1" sz="1100">
                <a:solidFill>
                  <a:srgbClr val="34D399"/>
                </a:solidFill>
              </a:rPr>
              <a:t>•  Substantial Target Exceedance (193%): </a:t>
            </a:r>
            <a:r>
              <a:rPr sz="1100">
                <a:solidFill>
                  <a:srgbClr val="F8FAFC"/>
                </a:solidFill>
              </a:rPr>
              <a:t>Configured and validated 29 individual content filter rules (exceeding the 15-rule OKR baseline) across 5 core threat categories.</a:t>
            </a:r>
          </a:p>
          <a:p>
            <a:pPr>
              <a:spcBef>
                <a:spcPts val="800"/>
              </a:spcBef>
            </a:pPr>
            <a:r>
              <a:rPr b="1" sz="1100">
                <a:solidFill>
                  <a:srgbClr val="34D399"/>
                </a:solidFill>
              </a:rPr>
              <a:t>•  Zero-Cost Sovereign Protection: </a:t>
            </a:r>
            <a:r>
              <a:rPr sz="1100">
                <a:solidFill>
                  <a:srgbClr val="F8FAFC"/>
                </a:solidFill>
              </a:rPr>
              <a:t>Leveraged LiteLLM built-in content filter engine at the gateway layer, avoiding 3rd-party SaaS subscription costs and keeping data local.</a:t>
            </a:r>
          </a:p>
          <a:p>
            <a:pPr>
              <a:spcBef>
                <a:spcPts val="800"/>
              </a:spcBef>
            </a:pPr>
            <a:r>
              <a:rPr b="1" sz="1100">
                <a:solidFill>
                  <a:srgbClr val="34D399"/>
                </a:solidFill>
              </a:rPr>
              <a:t>•  Zero-Latency Pipeline Execution: </a:t>
            </a:r>
            <a:r>
              <a:rPr sz="1100">
                <a:solidFill>
                  <a:srgbClr val="F8FAFC"/>
                </a:solidFill>
              </a:rPr>
              <a:t>Pre-execution pattern matching executes directly inside LiteLLM without external API round-trip latency overhead.</a:t>
            </a:r>
          </a:p>
          <a:p>
            <a:pPr>
              <a:spcBef>
                <a:spcPts val="800"/>
              </a:spcBef>
            </a:pPr>
            <a:r>
              <a:rPr b="1" sz="1100">
                <a:solidFill>
                  <a:srgbClr val="34D399"/>
                </a:solidFill>
              </a:rPr>
              <a:t>•  Resilient Error Handling Integration: </a:t>
            </a:r>
            <a:r>
              <a:rPr sz="1100">
                <a:solidFill>
                  <a:srgbClr val="F8FAFC"/>
                </a:solidFill>
              </a:rPr>
              <a:t>Standardized HTTP 403 Forbidden / 405 Method Not Allowed exceptions inside Moonshot connectors (telkom-connector.py &amp; openai-connector.py) ensuring zero-crash test execution.</a:t>
            </a:r>
          </a:p>
          <a:p>
            <a:pPr>
              <a:spcBef>
                <a:spcPts val="800"/>
              </a:spcBef>
            </a:pPr>
            <a:r>
              <a:rPr b="1" sz="1100">
                <a:solidFill>
                  <a:srgbClr val="34D399"/>
                </a:solidFill>
              </a:rPr>
              <a:t>•  Empirical Threat Mitigation: </a:t>
            </a:r>
            <a:r>
              <a:rPr sz="1100">
                <a:solidFill>
                  <a:srgbClr val="F8FAFC"/>
                </a:solidFill>
              </a:rPr>
              <a:t>Logged 100% Data Disclosure defense score and 81% Adversarial attack rejection rate in full Q2 assessment runs.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38BDF8"/>
                </a:solidFill>
                <a:latin typeface="Calibri"/>
              </a:defRPr>
            </a:pPr>
            <a:r>
              <a:t>OKR KR4 DETAIL REPORT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594360"/>
            <a:ext cx="10698480" cy="5486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200" b="1">
                <a:solidFill>
                  <a:srgbClr val="F8FAFC"/>
                </a:solidFill>
                <a:latin typeface="Calibri"/>
              </a:defRPr>
            </a:pPr>
            <a:r>
              <a:t>LiteLLM Gateway Sovereign Guardrail Architecture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188720"/>
            <a:ext cx="10728655" cy="18288"/>
          </a:xfrm>
          <a:prstGeom prst="rect">
            <a:avLst/>
          </a:prstGeom>
          <a:solidFill>
            <a:srgbClr val="334155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731520" y="1463040"/>
            <a:ext cx="2560320" cy="201168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137160"/>
          <a:lstStyle/>
          <a:p>
            <a:pPr algn="ctr">
              <a:defRPr sz="1200" b="1">
                <a:solidFill>
                  <a:srgbClr val="38BDF8"/>
                </a:solidFill>
              </a:defRPr>
            </a:pPr>
            <a:r>
              <a:t>1. Inbound Request</a:t>
            </a:r>
          </a:p>
          <a:p>
            <a:pPr>
              <a:spcBef>
                <a:spcPts val="800"/>
              </a:spcBef>
              <a:defRPr sz="1000">
                <a:solidFill>
                  <a:srgbClr val="F8FAFC"/>
                </a:solidFill>
              </a:defRPr>
            </a:pPr>
            <a:r>
              <a:t>API Client / Moonshot Runner sends prompt payload to LiteLLM Gateway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456432" y="1463040"/>
            <a:ext cx="2560320" cy="201168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FBBF2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137160"/>
          <a:lstStyle/>
          <a:p>
            <a:pPr algn="ctr">
              <a:defRPr sz="1200" b="1">
                <a:solidFill>
                  <a:srgbClr val="FBBF24"/>
                </a:solidFill>
              </a:defRPr>
            </a:pPr>
            <a:r>
              <a:t>2. Gateway Inspection</a:t>
            </a:r>
          </a:p>
          <a:p>
            <a:pPr>
              <a:spcBef>
                <a:spcPts val="800"/>
              </a:spcBef>
              <a:defRPr sz="1000">
                <a:solidFill>
                  <a:srgbClr val="F8FAFC"/>
                </a:solidFill>
              </a:defRPr>
            </a:pPr>
            <a:r>
              <a:t>LiteLLM Content Filter evaluates prompt against 29 Active Rules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181344" y="1463040"/>
            <a:ext cx="2560320" cy="201168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F8717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137160"/>
          <a:lstStyle/>
          <a:p>
            <a:pPr algn="ctr">
              <a:defRPr sz="1200" b="1">
                <a:solidFill>
                  <a:srgbClr val="F87171"/>
                </a:solidFill>
              </a:defRPr>
            </a:pPr>
            <a:r>
              <a:t>3. Policy Enforcement</a:t>
            </a:r>
          </a:p>
          <a:p>
            <a:pPr>
              <a:spcBef>
                <a:spcPts val="800"/>
              </a:spcBef>
              <a:defRPr sz="1000">
                <a:solidFill>
                  <a:srgbClr val="F8FAFC"/>
                </a:solidFill>
              </a:defRPr>
            </a:pPr>
            <a:r>
              <a:t>If rule matches at MEDIUM threshold -&gt; Trigger BLOCK &amp; HTTP 403/405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906256" y="1463040"/>
            <a:ext cx="2560320" cy="201168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34D3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137160"/>
          <a:lstStyle/>
          <a:p>
            <a:pPr algn="ctr">
              <a:defRPr sz="1200" b="1">
                <a:solidFill>
                  <a:srgbClr val="34D399"/>
                </a:solidFill>
              </a:defRPr>
            </a:pPr>
            <a:r>
              <a:t>4. Execution / Response</a:t>
            </a:r>
          </a:p>
          <a:p>
            <a:pPr>
              <a:spcBef>
                <a:spcPts val="800"/>
              </a:spcBef>
              <a:defRPr sz="1000">
                <a:solidFill>
                  <a:srgbClr val="F8FAFC"/>
                </a:solidFill>
              </a:defRPr>
            </a:pPr>
            <a:r>
              <a:t>Safe prompts pass to Target LLM; blocked prompts return exception JSON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3749039"/>
            <a:ext cx="10728655" cy="2560320"/>
          </a:xfrm>
          <a:prstGeom prst="roundRect">
            <a:avLst/>
          </a:prstGeom>
          <a:solidFill>
            <a:srgbClr val="1E293B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182880"/>
          <a:lstStyle/>
          <a:p>
            <a:pPr algn="ctr">
              <a:defRPr sz="1300" b="1">
                <a:solidFill>
                  <a:srgbClr val="38BDF8"/>
                </a:solidFill>
              </a:defRPr>
            </a:pPr>
            <a:r>
              <a:t>Key Architectural Benefits of Gateway-Level Protection:</a:t>
            </a:r>
          </a:p>
          <a:p>
            <a:pPr>
              <a:spcBef>
                <a:spcPts val="600"/>
              </a:spcBef>
            </a:pPr>
            <a:r>
              <a:rPr b="1" sz="1050">
                <a:solidFill>
                  <a:srgbClr val="34D399"/>
                </a:solidFill>
              </a:rPr>
              <a:t>✔  Pre-Execution Interception: </a:t>
            </a:r>
            <a:r>
              <a:rPr sz="1050">
                <a:solidFill>
                  <a:srgbClr val="F8FAFC"/>
                </a:solidFill>
              </a:rPr>
              <a:t>Malicious prompt injection and toxic payloads are intercepted BEFORE reaching downstream GPU inference engines, saving compute resources.</a:t>
            </a:r>
          </a:p>
          <a:p>
            <a:pPr>
              <a:spcBef>
                <a:spcPts val="600"/>
              </a:spcBef>
            </a:pPr>
            <a:r>
              <a:rPr b="1" sz="1050">
                <a:solidFill>
                  <a:srgbClr val="34D399"/>
                </a:solidFill>
              </a:rPr>
              <a:t>✔  Centralized Policy Governance: </a:t>
            </a:r>
            <a:r>
              <a:rPr sz="1050">
                <a:solidFill>
                  <a:srgbClr val="F8FAFC"/>
                </a:solidFill>
              </a:rPr>
              <a:t>All 29 rules are managed in a single control plane (LiteLLM Gateway) eliminating code duplication across microservices.</a:t>
            </a:r>
          </a:p>
          <a:p>
            <a:pPr>
              <a:spcBef>
                <a:spcPts val="600"/>
              </a:spcBef>
            </a:pPr>
            <a:r>
              <a:rPr b="1" sz="1050">
                <a:solidFill>
                  <a:srgbClr val="34D399"/>
                </a:solidFill>
              </a:rPr>
              <a:t>✔  Graceful Pipeline Recovery: </a:t>
            </a:r>
            <a:r>
              <a:rPr sz="1050">
                <a:solidFill>
                  <a:srgbClr val="F8FAFC"/>
                </a:solidFill>
              </a:rPr>
              <a:t>Structured HTTP status responses allow calling frameworks (Moonshot, AI Sandbox) to log blocks as successful defenses rather than crash failures.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38BDF8"/>
                </a:solidFill>
                <a:latin typeface="Calibri"/>
              </a:defRPr>
            </a:pPr>
            <a:r>
              <a:t>OKR KR4 DETAIL REPORT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594360"/>
            <a:ext cx="10698480" cy="5486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200" b="1">
                <a:solidFill>
                  <a:srgbClr val="F8FAFC"/>
                </a:solidFill>
                <a:latin typeface="Calibri"/>
              </a:defRPr>
            </a:pPr>
            <a:r>
              <a:t>Guardrail Rules Inventory (Part 1: Bias &amp; Claims)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188720"/>
            <a:ext cx="10728655" cy="18288"/>
          </a:xfrm>
          <a:prstGeom prst="rect">
            <a:avLst/>
          </a:prstGeom>
          <a:solidFill>
            <a:srgbClr val="334155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731520" y="1463040"/>
          <a:ext cx="5212080" cy="46634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65760"/>
                <a:gridCol w="1645920"/>
                <a:gridCol w="1554480"/>
                <a:gridCol w="1645920"/>
              </a:tblGrid>
              <a:tr h="518160"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8FAFC"/>
                          </a:solidFill>
                        </a:defRPr>
                      </a:pPr>
                      <a:r>
                        <a:t>#</a:t>
                      </a:r>
                    </a:p>
                  </a:txBody>
                  <a:tcPr>
                    <a:solidFill>
                      <a:srgbClr val="0F766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8FAFC"/>
                          </a:solidFill>
                        </a:defRPr>
                      </a:pPr>
                      <a:r>
                        <a:t>Rule ID</a:t>
                      </a:r>
                    </a:p>
                  </a:txBody>
                  <a:tcPr>
                    <a:solidFill>
                      <a:srgbClr val="0F766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8FAFC"/>
                          </a:solidFill>
                        </a:defRPr>
                      </a:pPr>
                      <a:r>
                        <a:t>Category</a:t>
                      </a:r>
                    </a:p>
                  </a:txBody>
                  <a:tcPr>
                    <a:solidFill>
                      <a:srgbClr val="0F766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8FAFC"/>
                          </a:solidFill>
                        </a:defRPr>
                      </a:pPr>
                      <a:r>
                        <a:t>Action / Severity</a:t>
                      </a:r>
                    </a:p>
                  </a:txBody>
                  <a:tcPr>
                    <a:solidFill>
                      <a:srgbClr val="0F766E"/>
                    </a:solidFill>
                  </a:tcPr>
                </a:tc>
              </a:tr>
              <a:tr h="518160">
                <a:tc>
                  <a:txBody>
                    <a:bodyPr/>
                    <a:lstStyle/>
                    <a:p>
                      <a:pPr algn="ctr">
                        <a:defRPr sz="950">
                          <a:solidFill>
                            <a:srgbClr val="F8FAFC"/>
                          </a:solidFill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F8FAFC"/>
                          </a:solidFill>
                        </a:defRPr>
                      </a:pPr>
                      <a:r>
                        <a:t>age_discrimination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F8FAFC"/>
                          </a:solidFill>
                        </a:defRPr>
                      </a:pPr>
                      <a:r>
                        <a:t>Age Bias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50">
                          <a:solidFill>
                            <a:srgbClr val="34D399"/>
                          </a:solidFill>
                        </a:defRPr>
                      </a:pPr>
                      <a:r>
                        <a:t>MEDIUM / BLOCK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</a:tr>
              <a:tr h="518160">
                <a:tc>
                  <a:txBody>
                    <a:bodyPr/>
                    <a:lstStyle/>
                    <a:p>
                      <a:pPr algn="ctr">
                        <a:defRPr sz="950">
                          <a:solidFill>
                            <a:srgbClr val="F8FAFC"/>
                          </a:solidFill>
                        </a:defRPr>
                      </a:pPr>
                      <a:r>
                        <a:t>2</a:t>
                      </a:r>
                    </a:p>
                  </a:txBody>
                  <a:tcPr>
                    <a:solidFill>
                      <a:srgbClr val="141E3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F8FAFC"/>
                          </a:solidFill>
                        </a:defRPr>
                      </a:pPr>
                      <a:r>
                        <a:t>bias_racial</a:t>
                      </a:r>
                    </a:p>
                  </a:txBody>
                  <a:tcPr>
                    <a:solidFill>
                      <a:srgbClr val="141E3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F8FAFC"/>
                          </a:solidFill>
                        </a:defRPr>
                      </a:pPr>
                      <a:r>
                        <a:t>Racial Bias</a:t>
                      </a:r>
                    </a:p>
                  </a:txBody>
                  <a:tcPr>
                    <a:solidFill>
                      <a:srgbClr val="141E3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50">
                          <a:solidFill>
                            <a:srgbClr val="34D399"/>
                          </a:solidFill>
                        </a:defRPr>
                      </a:pPr>
                      <a:r>
                        <a:t>MEDIUM / BLOCK</a:t>
                      </a:r>
                    </a:p>
                  </a:txBody>
                  <a:tcPr>
                    <a:solidFill>
                      <a:srgbClr val="141E30"/>
                    </a:solidFill>
                  </a:tcPr>
                </a:tc>
              </a:tr>
              <a:tr h="518160">
                <a:tc>
                  <a:txBody>
                    <a:bodyPr/>
                    <a:lstStyle/>
                    <a:p>
                      <a:pPr algn="ctr">
                        <a:defRPr sz="950">
                          <a:solidFill>
                            <a:srgbClr val="F8FAFC"/>
                          </a:solidFill>
                        </a:defRPr>
                      </a:pPr>
                      <a:r>
                        <a:t>3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F8FAFC"/>
                          </a:solidFill>
                        </a:defRPr>
                      </a:pPr>
                      <a:r>
                        <a:t>bias_gender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F8FAFC"/>
                          </a:solidFill>
                        </a:defRPr>
                      </a:pPr>
                      <a:r>
                        <a:t>Gender Bias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50">
                          <a:solidFill>
                            <a:srgbClr val="34D399"/>
                          </a:solidFill>
                        </a:defRPr>
                      </a:pPr>
                      <a:r>
                        <a:t>MEDIUM / BLOCK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</a:tr>
              <a:tr h="518160">
                <a:tc>
                  <a:txBody>
                    <a:bodyPr/>
                    <a:lstStyle/>
                    <a:p>
                      <a:pPr algn="ctr">
                        <a:defRPr sz="950">
                          <a:solidFill>
                            <a:srgbClr val="F8FAFC"/>
                          </a:solidFill>
                        </a:defRPr>
                      </a:pPr>
                      <a:r>
                        <a:t>4</a:t>
                      </a:r>
                    </a:p>
                  </a:txBody>
                  <a:tcPr>
                    <a:solidFill>
                      <a:srgbClr val="141E3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F8FAFC"/>
                          </a:solidFill>
                        </a:defRPr>
                      </a:pPr>
                      <a:r>
                        <a:t>bias_religious</a:t>
                      </a:r>
                    </a:p>
                  </a:txBody>
                  <a:tcPr>
                    <a:solidFill>
                      <a:srgbClr val="141E3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F8FAFC"/>
                          </a:solidFill>
                        </a:defRPr>
                      </a:pPr>
                      <a:r>
                        <a:t>Religious Bias</a:t>
                      </a:r>
                    </a:p>
                  </a:txBody>
                  <a:tcPr>
                    <a:solidFill>
                      <a:srgbClr val="141E3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50">
                          <a:solidFill>
                            <a:srgbClr val="34D399"/>
                          </a:solidFill>
                        </a:defRPr>
                      </a:pPr>
                      <a:r>
                        <a:t>MEDIUM / BLOCK</a:t>
                      </a:r>
                    </a:p>
                  </a:txBody>
                  <a:tcPr>
                    <a:solidFill>
                      <a:srgbClr val="141E30"/>
                    </a:solidFill>
                  </a:tcPr>
                </a:tc>
              </a:tr>
              <a:tr h="518160">
                <a:tc>
                  <a:txBody>
                    <a:bodyPr/>
                    <a:lstStyle/>
                    <a:p>
                      <a:pPr algn="ctr">
                        <a:defRPr sz="950">
                          <a:solidFill>
                            <a:srgbClr val="F8FAFC"/>
                          </a:solidFill>
                        </a:defRPr>
                      </a:pPr>
                      <a:r>
                        <a:t>5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F8FAFC"/>
                          </a:solidFill>
                        </a:defRPr>
                      </a:pPr>
                      <a:r>
                        <a:t>bias_sexual_orientation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F8FAFC"/>
                          </a:solidFill>
                        </a:defRPr>
                      </a:pPr>
                      <a:r>
                        <a:t>Orientation Bias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50">
                          <a:solidFill>
                            <a:srgbClr val="34D399"/>
                          </a:solidFill>
                        </a:defRPr>
                      </a:pPr>
                      <a:r>
                        <a:t>MEDIUM / BLOCK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</a:tr>
              <a:tr h="518160">
                <a:tc>
                  <a:txBody>
                    <a:bodyPr/>
                    <a:lstStyle/>
                    <a:p>
                      <a:pPr algn="ctr">
                        <a:defRPr sz="950">
                          <a:solidFill>
                            <a:srgbClr val="F8FAFC"/>
                          </a:solidFill>
                        </a:defRPr>
                      </a:pPr>
                      <a:r>
                        <a:t>6</a:t>
                      </a:r>
                    </a:p>
                  </a:txBody>
                  <a:tcPr>
                    <a:solidFill>
                      <a:srgbClr val="141E3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F8FAFC"/>
                          </a:solidFill>
                        </a:defRPr>
                      </a:pPr>
                      <a:r>
                        <a:t>disability</a:t>
                      </a:r>
                    </a:p>
                  </a:txBody>
                  <a:tcPr>
                    <a:solidFill>
                      <a:srgbClr val="141E3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F8FAFC"/>
                          </a:solidFill>
                        </a:defRPr>
                      </a:pPr>
                      <a:r>
                        <a:t>Disability Bias</a:t>
                      </a:r>
                    </a:p>
                  </a:txBody>
                  <a:tcPr>
                    <a:solidFill>
                      <a:srgbClr val="141E3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50">
                          <a:solidFill>
                            <a:srgbClr val="34D399"/>
                          </a:solidFill>
                        </a:defRPr>
                      </a:pPr>
                      <a:r>
                        <a:t>MEDIUM / BLOCK</a:t>
                      </a:r>
                    </a:p>
                  </a:txBody>
                  <a:tcPr>
                    <a:solidFill>
                      <a:srgbClr val="141E30"/>
                    </a:solidFill>
                  </a:tcPr>
                </a:tc>
              </a:tr>
              <a:tr h="518160">
                <a:tc>
                  <a:txBody>
                    <a:bodyPr/>
                    <a:lstStyle/>
                    <a:p>
                      <a:pPr algn="ctr">
                        <a:defRPr sz="950">
                          <a:solidFill>
                            <a:srgbClr val="F8FAFC"/>
                          </a:solidFill>
                        </a:defRPr>
                      </a:pPr>
                      <a:r>
                        <a:t>7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F8FAFC"/>
                          </a:solidFill>
                        </a:defRPr>
                      </a:pPr>
                      <a:r>
                        <a:t>gender_sexual_orient.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F8FAFC"/>
                          </a:solidFill>
                        </a:defRPr>
                      </a:pPr>
                      <a:r>
                        <a:t>Gender &amp; Orient.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50">
                          <a:solidFill>
                            <a:srgbClr val="34D399"/>
                          </a:solidFill>
                        </a:defRPr>
                      </a:pPr>
                      <a:r>
                        <a:t>MEDIUM / BLOCK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</a:tr>
              <a:tr h="518160">
                <a:tc>
                  <a:txBody>
                    <a:bodyPr/>
                    <a:lstStyle/>
                    <a:p>
                      <a:pPr algn="ctr">
                        <a:defRPr sz="950">
                          <a:solidFill>
                            <a:srgbClr val="F8FAFC"/>
                          </a:solidFill>
                        </a:defRPr>
                      </a:pPr>
                      <a:r>
                        <a:t>8</a:t>
                      </a:r>
                    </a:p>
                  </a:txBody>
                  <a:tcPr>
                    <a:solidFill>
                      <a:srgbClr val="141E3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F8FAFC"/>
                          </a:solidFill>
                        </a:defRPr>
                      </a:pPr>
                      <a:r>
                        <a:t>military_status</a:t>
                      </a:r>
                    </a:p>
                  </a:txBody>
                  <a:tcPr>
                    <a:solidFill>
                      <a:srgbClr val="141E3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F8FAFC"/>
                          </a:solidFill>
                        </a:defRPr>
                      </a:pPr>
                      <a:r>
                        <a:t>Military Status</a:t>
                      </a:r>
                    </a:p>
                  </a:txBody>
                  <a:tcPr>
                    <a:solidFill>
                      <a:srgbClr val="141E3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50">
                          <a:solidFill>
                            <a:srgbClr val="34D399"/>
                          </a:solidFill>
                        </a:defRPr>
                      </a:pPr>
                      <a:r>
                        <a:t>MEDIUM / BLOCK</a:t>
                      </a:r>
                    </a:p>
                  </a:txBody>
                  <a:tcPr>
                    <a:solidFill>
                      <a:srgbClr val="141E30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6217920" y="1463040"/>
          <a:ext cx="5242255" cy="31089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65760"/>
                <a:gridCol w="1737360"/>
                <a:gridCol w="1463040"/>
                <a:gridCol w="1676095"/>
              </a:tblGrid>
              <a:tr h="518160"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8FAFC"/>
                          </a:solidFill>
                        </a:defRPr>
                      </a:pPr>
                      <a:r>
                        <a:t>#</a:t>
                      </a:r>
                    </a:p>
                  </a:txBody>
                  <a:tcPr>
                    <a:solidFill>
                      <a:srgbClr val="0F766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8FAFC"/>
                          </a:solidFill>
                        </a:defRPr>
                      </a:pPr>
                      <a:r>
                        <a:t>Rule ID</a:t>
                      </a:r>
                    </a:p>
                  </a:txBody>
                  <a:tcPr>
                    <a:solidFill>
                      <a:srgbClr val="0F766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8FAFC"/>
                          </a:solidFill>
                        </a:defRPr>
                      </a:pPr>
                      <a:r>
                        <a:t>Category</a:t>
                      </a:r>
                    </a:p>
                  </a:txBody>
                  <a:tcPr>
                    <a:solidFill>
                      <a:srgbClr val="0F766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8FAFC"/>
                          </a:solidFill>
                        </a:defRPr>
                      </a:pPr>
                      <a:r>
                        <a:t>Action / Severity</a:t>
                      </a:r>
                    </a:p>
                  </a:txBody>
                  <a:tcPr>
                    <a:solidFill>
                      <a:srgbClr val="0F766E"/>
                    </a:solidFill>
                  </a:tcPr>
                </a:tc>
              </a:tr>
              <a:tr h="518160">
                <a:tc>
                  <a:txBody>
                    <a:bodyPr/>
                    <a:lstStyle/>
                    <a:p>
                      <a:pPr algn="ctr">
                        <a:defRPr sz="950">
                          <a:solidFill>
                            <a:srgbClr val="F8FAFC"/>
                          </a:solidFill>
                        </a:defRPr>
                      </a:pPr>
                      <a:r>
                        <a:t>9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F8FAFC"/>
                          </a:solidFill>
                        </a:defRPr>
                      </a:pPr>
                      <a:r>
                        <a:t>claims_fraud_coaching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F8FAFC"/>
                          </a:solidFill>
                        </a:defRPr>
                      </a:pPr>
                      <a:r>
                        <a:t>Fraud Coaching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50">
                          <a:solidFill>
                            <a:srgbClr val="34D399"/>
                          </a:solidFill>
                        </a:defRPr>
                      </a:pPr>
                      <a:r>
                        <a:t>MEDIUM / BLOCK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</a:tr>
              <a:tr h="518160">
                <a:tc>
                  <a:txBody>
                    <a:bodyPr/>
                    <a:lstStyle/>
                    <a:p>
                      <a:pPr algn="ctr">
                        <a:defRPr sz="950">
                          <a:solidFill>
                            <a:srgbClr val="F8FAFC"/>
                          </a:solidFill>
                        </a:defRPr>
                      </a:pPr>
                      <a:r>
                        <a:t>10</a:t>
                      </a:r>
                    </a:p>
                  </a:txBody>
                  <a:tcPr>
                    <a:solidFill>
                      <a:srgbClr val="141E3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F8FAFC"/>
                          </a:solidFill>
                        </a:defRPr>
                      </a:pPr>
                      <a:r>
                        <a:t>claims_medical_advice</a:t>
                      </a:r>
                    </a:p>
                  </a:txBody>
                  <a:tcPr>
                    <a:solidFill>
                      <a:srgbClr val="141E3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F8FAFC"/>
                          </a:solidFill>
                        </a:defRPr>
                      </a:pPr>
                      <a:r>
                        <a:t>Medical Advice</a:t>
                      </a:r>
                    </a:p>
                  </a:txBody>
                  <a:tcPr>
                    <a:solidFill>
                      <a:srgbClr val="141E3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50">
                          <a:solidFill>
                            <a:srgbClr val="34D399"/>
                          </a:solidFill>
                        </a:defRPr>
                      </a:pPr>
                      <a:r>
                        <a:t>MEDIUM / BLOCK</a:t>
                      </a:r>
                    </a:p>
                  </a:txBody>
                  <a:tcPr>
                    <a:solidFill>
                      <a:srgbClr val="141E30"/>
                    </a:solidFill>
                  </a:tcPr>
                </a:tc>
              </a:tr>
              <a:tr h="518160">
                <a:tc>
                  <a:txBody>
                    <a:bodyPr/>
                    <a:lstStyle/>
                    <a:p>
                      <a:pPr algn="ctr">
                        <a:defRPr sz="950">
                          <a:solidFill>
                            <a:srgbClr val="F8FAFC"/>
                          </a:solidFill>
                        </a:defRPr>
                      </a:pPr>
                      <a:r>
                        <a:t>11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F8FAFC"/>
                          </a:solidFill>
                        </a:defRPr>
                      </a:pPr>
                      <a:r>
                        <a:t>claims_phi_disclosure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F8FAFC"/>
                          </a:solidFill>
                        </a:defRPr>
                      </a:pPr>
                      <a:r>
                        <a:t>PHI Disclosure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50">
                          <a:solidFill>
                            <a:srgbClr val="34D399"/>
                          </a:solidFill>
                        </a:defRPr>
                      </a:pPr>
                      <a:r>
                        <a:t>MEDIUM / BLOCK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</a:tr>
              <a:tr h="518160">
                <a:tc>
                  <a:txBody>
                    <a:bodyPr/>
                    <a:lstStyle/>
                    <a:p>
                      <a:pPr algn="ctr">
                        <a:defRPr sz="950">
                          <a:solidFill>
                            <a:srgbClr val="F8FAFC"/>
                          </a:solidFill>
                        </a:defRPr>
                      </a:pPr>
                      <a:r>
                        <a:t>12</a:t>
                      </a:r>
                    </a:p>
                  </a:txBody>
                  <a:tcPr>
                    <a:solidFill>
                      <a:srgbClr val="141E3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F8FAFC"/>
                          </a:solidFill>
                        </a:defRPr>
                      </a:pPr>
                      <a:r>
                        <a:t>claims_prior_auth_gaming</a:t>
                      </a:r>
                    </a:p>
                  </a:txBody>
                  <a:tcPr>
                    <a:solidFill>
                      <a:srgbClr val="141E3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F8FAFC"/>
                          </a:solidFill>
                        </a:defRPr>
                      </a:pPr>
                      <a:r>
                        <a:t>Prior Auth Gaming</a:t>
                      </a:r>
                    </a:p>
                  </a:txBody>
                  <a:tcPr>
                    <a:solidFill>
                      <a:srgbClr val="141E3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50">
                          <a:solidFill>
                            <a:srgbClr val="34D399"/>
                          </a:solidFill>
                        </a:defRPr>
                      </a:pPr>
                      <a:r>
                        <a:t>MEDIUM / BLOCK</a:t>
                      </a:r>
                    </a:p>
                  </a:txBody>
                  <a:tcPr>
                    <a:solidFill>
                      <a:srgbClr val="141E30"/>
                    </a:solidFill>
                  </a:tcPr>
                </a:tc>
              </a:tr>
              <a:tr h="518160">
                <a:tc>
                  <a:txBody>
                    <a:bodyPr/>
                    <a:lstStyle/>
                    <a:p>
                      <a:pPr algn="ctr">
                        <a:defRPr sz="950">
                          <a:solidFill>
                            <a:srgbClr val="F8FAFC"/>
                          </a:solidFill>
                        </a:defRPr>
                      </a:pPr>
                      <a:r>
                        <a:t>13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F8FAFC"/>
                          </a:solidFill>
                        </a:defRPr>
                      </a:pPr>
                      <a:r>
                        <a:t>claims_system_override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F8FAFC"/>
                          </a:solidFill>
                        </a:defRPr>
                      </a:pPr>
                      <a:r>
                        <a:t>System Override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50">
                          <a:solidFill>
                            <a:srgbClr val="34D399"/>
                          </a:solidFill>
                        </a:defRPr>
                      </a:pPr>
                      <a:r>
                        <a:t>MEDIUM / BLOCK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</a:tr>
            </a:tbl>
          </a:graphicData>
        </a:graphic>
      </p:graphicFrame>
      <p:sp>
        <p:nvSpPr>
          <p:cNvPr id="7" name="Rounded Rectangle 6"/>
          <p:cNvSpPr/>
          <p:nvPr/>
        </p:nvSpPr>
        <p:spPr>
          <a:xfrm>
            <a:off x="6217920" y="4754880"/>
            <a:ext cx="5242255" cy="1371600"/>
          </a:xfrm>
          <a:prstGeom prst="roundRect">
            <a:avLst/>
          </a:prstGeom>
          <a:solidFill>
            <a:srgbClr val="1E293B"/>
          </a:solidFill>
          <a:ln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tIns="137160"/>
          <a:lstStyle/>
          <a:p>
            <a:pPr algn="ctr">
              <a:defRPr sz="1100" b="1">
                <a:solidFill>
                  <a:srgbClr val="38BDF8"/>
                </a:solidFill>
              </a:defRPr>
            </a:pPr>
            <a:r>
              <a:t>Functional Scope Summary (Bias &amp; Claims):</a:t>
            </a:r>
          </a:p>
          <a:p>
            <a:pPr>
              <a:spcBef>
                <a:spcPts val="400"/>
              </a:spcBef>
              <a:defRPr sz="950">
                <a:solidFill>
                  <a:srgbClr val="F8FAFC"/>
                </a:solidFill>
              </a:defRPr>
            </a:pPr>
            <a:r>
              <a:t>• Bias rules enforce zero-tolerance for protected attributes discrimination.</a:t>
            </a:r>
            <a:br/>
            <a:r>
              <a:t>• Claims rules restrict unauthorized medical advice &amp; HIPAA/PHI regulatory violations.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38BDF8"/>
                </a:solidFill>
                <a:latin typeface="Calibri"/>
              </a:defRPr>
            </a:pPr>
            <a:r>
              <a:t>OKR KR4 DETAIL REPORT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594360"/>
            <a:ext cx="10698480" cy="5486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200" b="1">
                <a:solidFill>
                  <a:srgbClr val="F8FAFC"/>
                </a:solidFill>
                <a:latin typeface="Calibri"/>
              </a:defRPr>
            </a:pPr>
            <a:r>
              <a:t>Guardrail Rules Inventory (Part 2: Toxic, Safety &amp; Injections)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188720"/>
            <a:ext cx="10728655" cy="18288"/>
          </a:xfrm>
          <a:prstGeom prst="rect">
            <a:avLst/>
          </a:prstGeom>
          <a:solidFill>
            <a:srgbClr val="334155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731520" y="1463040"/>
          <a:ext cx="5212080" cy="46634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65760"/>
                <a:gridCol w="1737360"/>
                <a:gridCol w="1463040"/>
                <a:gridCol w="1645920"/>
              </a:tblGrid>
              <a:tr h="388620">
                <a:tc>
                  <a:txBody>
                    <a:bodyPr/>
                    <a:lstStyle/>
                    <a:p>
                      <a:pPr algn="ctr">
                        <a:defRPr b="1" sz="950">
                          <a:solidFill>
                            <a:srgbClr val="F8FAFC"/>
                          </a:solidFill>
                        </a:defRPr>
                      </a:pPr>
                      <a:r>
                        <a:t>#</a:t>
                      </a:r>
                    </a:p>
                  </a:txBody>
                  <a:tcPr>
                    <a:solidFill>
                      <a:srgbClr val="0F766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950">
                          <a:solidFill>
                            <a:srgbClr val="F8FAFC"/>
                          </a:solidFill>
                        </a:defRPr>
                      </a:pPr>
                      <a:r>
                        <a:t>Rule ID</a:t>
                      </a:r>
                    </a:p>
                  </a:txBody>
                  <a:tcPr>
                    <a:solidFill>
                      <a:srgbClr val="0F766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950">
                          <a:solidFill>
                            <a:srgbClr val="F8FAFC"/>
                          </a:solidFill>
                        </a:defRPr>
                      </a:pPr>
                      <a:r>
                        <a:t>Category</a:t>
                      </a:r>
                    </a:p>
                  </a:txBody>
                  <a:tcPr>
                    <a:solidFill>
                      <a:srgbClr val="0F766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950">
                          <a:solidFill>
                            <a:srgbClr val="F8FAFC"/>
                          </a:solidFill>
                        </a:defRPr>
                      </a:pPr>
                      <a:r>
                        <a:t>Action / Severity</a:t>
                      </a:r>
                    </a:p>
                  </a:txBody>
                  <a:tcPr>
                    <a:solidFill>
                      <a:srgbClr val="0F766E"/>
                    </a:solidFill>
                  </a:tcPr>
                </a:tc>
              </a:tr>
              <a:tr h="388620">
                <a:tc>
                  <a:txBody>
                    <a:bodyPr/>
                    <a:lstStyle/>
                    <a:p>
                      <a:pPr algn="ctr">
                        <a:defRPr sz="850">
                          <a:solidFill>
                            <a:srgbClr val="F8FAFC"/>
                          </a:solidFill>
                        </a:defRPr>
                      </a:pPr>
                      <a:r>
                        <a:t>14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50">
                          <a:solidFill>
                            <a:srgbClr val="F8FAFC"/>
                          </a:solidFill>
                        </a:defRPr>
                      </a:pPr>
                      <a:r>
                        <a:t>denied_insults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50">
                          <a:solidFill>
                            <a:srgbClr val="F8FAFC"/>
                          </a:solidFill>
                        </a:defRPr>
                      </a:pPr>
                      <a:r>
                        <a:t>Insults &amp; Attacks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solidFill>
                            <a:srgbClr val="34D399"/>
                          </a:solidFill>
                        </a:defRPr>
                      </a:pPr>
                      <a:r>
                        <a:t>MEDIUM / BLOCK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</a:tr>
              <a:tr h="388620">
                <a:tc>
                  <a:txBody>
                    <a:bodyPr/>
                    <a:lstStyle/>
                    <a:p>
                      <a:pPr algn="ctr">
                        <a:defRPr sz="850">
                          <a:solidFill>
                            <a:srgbClr val="F8FAFC"/>
                          </a:solidFill>
                        </a:defRPr>
                      </a:pPr>
                      <a:r>
                        <a:t>15</a:t>
                      </a:r>
                    </a:p>
                  </a:txBody>
                  <a:tcPr>
                    <a:solidFill>
                      <a:srgbClr val="141E3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50">
                          <a:solidFill>
                            <a:srgbClr val="F8FAFC"/>
                          </a:solidFill>
                        </a:defRPr>
                      </a:pPr>
                      <a:r>
                        <a:t>harm_toxic_abuse</a:t>
                      </a:r>
                    </a:p>
                  </a:txBody>
                  <a:tcPr>
                    <a:solidFill>
                      <a:srgbClr val="141E3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50">
                          <a:solidFill>
                            <a:srgbClr val="F8FAFC"/>
                          </a:solidFill>
                        </a:defRPr>
                      </a:pPr>
                      <a:r>
                        <a:t>Toxic Abuse</a:t>
                      </a:r>
                    </a:p>
                  </a:txBody>
                  <a:tcPr>
                    <a:solidFill>
                      <a:srgbClr val="141E3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solidFill>
                            <a:srgbClr val="34D399"/>
                          </a:solidFill>
                        </a:defRPr>
                      </a:pPr>
                      <a:r>
                        <a:t>MEDIUM / BLOCK</a:t>
                      </a:r>
                    </a:p>
                  </a:txBody>
                  <a:tcPr>
                    <a:solidFill>
                      <a:srgbClr val="141E30"/>
                    </a:solidFill>
                  </a:tcPr>
                </a:tc>
              </a:tr>
              <a:tr h="388620">
                <a:tc>
                  <a:txBody>
                    <a:bodyPr/>
                    <a:lstStyle/>
                    <a:p>
                      <a:pPr algn="ctr">
                        <a:defRPr sz="850">
                          <a:solidFill>
                            <a:srgbClr val="F8FAFC"/>
                          </a:solidFill>
                        </a:defRPr>
                      </a:pPr>
                      <a:r>
                        <a:t>16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50">
                          <a:solidFill>
                            <a:srgbClr val="F8FAFC"/>
                          </a:solidFill>
                        </a:defRPr>
                      </a:pPr>
                      <a:r>
                        <a:t>harm_toxic_abuse_au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50">
                          <a:solidFill>
                            <a:srgbClr val="F8FAFC"/>
                          </a:solidFill>
                        </a:defRPr>
                      </a:pPr>
                      <a:r>
                        <a:t>Toxic Abuse (AU)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solidFill>
                            <a:srgbClr val="34D399"/>
                          </a:solidFill>
                        </a:defRPr>
                      </a:pPr>
                      <a:r>
                        <a:t>MEDIUM / BLOCK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</a:tr>
              <a:tr h="388620">
                <a:tc>
                  <a:txBody>
                    <a:bodyPr/>
                    <a:lstStyle/>
                    <a:p>
                      <a:pPr algn="ctr">
                        <a:defRPr sz="850">
                          <a:solidFill>
                            <a:srgbClr val="F8FAFC"/>
                          </a:solidFill>
                        </a:defRPr>
                      </a:pPr>
                      <a:r>
                        <a:t>17</a:t>
                      </a:r>
                    </a:p>
                  </a:txBody>
                  <a:tcPr>
                    <a:solidFill>
                      <a:srgbClr val="141E3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50">
                          <a:solidFill>
                            <a:srgbClr val="F8FAFC"/>
                          </a:solidFill>
                        </a:defRPr>
                      </a:pPr>
                      <a:r>
                        <a:t>harm_toxic_abuse_de</a:t>
                      </a:r>
                    </a:p>
                  </a:txBody>
                  <a:tcPr>
                    <a:solidFill>
                      <a:srgbClr val="141E3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50">
                          <a:solidFill>
                            <a:srgbClr val="F8FAFC"/>
                          </a:solidFill>
                        </a:defRPr>
                      </a:pPr>
                      <a:r>
                        <a:t>Toxic Abuse (DE)</a:t>
                      </a:r>
                    </a:p>
                  </a:txBody>
                  <a:tcPr>
                    <a:solidFill>
                      <a:srgbClr val="141E3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solidFill>
                            <a:srgbClr val="34D399"/>
                          </a:solidFill>
                        </a:defRPr>
                      </a:pPr>
                      <a:r>
                        <a:t>MEDIUM / BLOCK</a:t>
                      </a:r>
                    </a:p>
                  </a:txBody>
                  <a:tcPr>
                    <a:solidFill>
                      <a:srgbClr val="141E30"/>
                    </a:solidFill>
                  </a:tcPr>
                </a:tc>
              </a:tr>
              <a:tr h="388620">
                <a:tc>
                  <a:txBody>
                    <a:bodyPr/>
                    <a:lstStyle/>
                    <a:p>
                      <a:pPr algn="ctr">
                        <a:defRPr sz="850">
                          <a:solidFill>
                            <a:srgbClr val="F8FAFC"/>
                          </a:solidFill>
                        </a:defRPr>
                      </a:pPr>
                      <a:r>
                        <a:t>18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50">
                          <a:solidFill>
                            <a:srgbClr val="F8FAFC"/>
                          </a:solidFill>
                        </a:defRPr>
                      </a:pPr>
                      <a:r>
                        <a:t>harm_toxic_abuse_es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50">
                          <a:solidFill>
                            <a:srgbClr val="F8FAFC"/>
                          </a:solidFill>
                        </a:defRPr>
                      </a:pPr>
                      <a:r>
                        <a:t>Toxic Abuse (ES)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solidFill>
                            <a:srgbClr val="34D399"/>
                          </a:solidFill>
                        </a:defRPr>
                      </a:pPr>
                      <a:r>
                        <a:t>MEDIUM / BLOCK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</a:tr>
              <a:tr h="388620">
                <a:tc>
                  <a:txBody>
                    <a:bodyPr/>
                    <a:lstStyle/>
                    <a:p>
                      <a:pPr algn="ctr">
                        <a:defRPr sz="850">
                          <a:solidFill>
                            <a:srgbClr val="F8FAFC"/>
                          </a:solidFill>
                        </a:defRPr>
                      </a:pPr>
                      <a:r>
                        <a:t>19</a:t>
                      </a:r>
                    </a:p>
                  </a:txBody>
                  <a:tcPr>
                    <a:solidFill>
                      <a:srgbClr val="141E3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50">
                          <a:solidFill>
                            <a:srgbClr val="F8FAFC"/>
                          </a:solidFill>
                        </a:defRPr>
                      </a:pPr>
                      <a:r>
                        <a:t>harm_toxic_abuse_fr</a:t>
                      </a:r>
                    </a:p>
                  </a:txBody>
                  <a:tcPr>
                    <a:solidFill>
                      <a:srgbClr val="141E3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50">
                          <a:solidFill>
                            <a:srgbClr val="F8FAFC"/>
                          </a:solidFill>
                        </a:defRPr>
                      </a:pPr>
                      <a:r>
                        <a:t>Toxic Abuse (FR)</a:t>
                      </a:r>
                    </a:p>
                  </a:txBody>
                  <a:tcPr>
                    <a:solidFill>
                      <a:srgbClr val="141E3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solidFill>
                            <a:srgbClr val="34D399"/>
                          </a:solidFill>
                        </a:defRPr>
                      </a:pPr>
                      <a:r>
                        <a:t>MEDIUM / BLOCK</a:t>
                      </a:r>
                    </a:p>
                  </a:txBody>
                  <a:tcPr>
                    <a:solidFill>
                      <a:srgbClr val="141E30"/>
                    </a:solidFill>
                  </a:tcPr>
                </a:tc>
              </a:tr>
              <a:tr h="388620">
                <a:tc>
                  <a:txBody>
                    <a:bodyPr/>
                    <a:lstStyle/>
                    <a:p>
                      <a:pPr algn="ctr">
                        <a:defRPr sz="850">
                          <a:solidFill>
                            <a:srgbClr val="F8FAFC"/>
                          </a:solidFill>
                        </a:defRPr>
                      </a:pPr>
                      <a:r>
                        <a:t>20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50">
                          <a:solidFill>
                            <a:srgbClr val="F8FAFC"/>
                          </a:solidFill>
                        </a:defRPr>
                      </a:pPr>
                      <a:r>
                        <a:t>harmful_child_safety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50">
                          <a:solidFill>
                            <a:srgbClr val="F8FAFC"/>
                          </a:solidFill>
                        </a:defRPr>
                      </a:pPr>
                      <a:r>
                        <a:t>Child Safety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solidFill>
                            <a:srgbClr val="34D399"/>
                          </a:solidFill>
                        </a:defRPr>
                      </a:pPr>
                      <a:r>
                        <a:t>MEDIUM / BLOCK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</a:tr>
              <a:tr h="388620">
                <a:tc>
                  <a:txBody>
                    <a:bodyPr/>
                    <a:lstStyle/>
                    <a:p>
                      <a:pPr algn="ctr">
                        <a:defRPr sz="850">
                          <a:solidFill>
                            <a:srgbClr val="F8FAFC"/>
                          </a:solidFill>
                        </a:defRPr>
                      </a:pPr>
                      <a:r>
                        <a:t>21</a:t>
                      </a:r>
                    </a:p>
                  </a:txBody>
                  <a:tcPr>
                    <a:solidFill>
                      <a:srgbClr val="141E3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50">
                          <a:solidFill>
                            <a:srgbClr val="F8FAFC"/>
                          </a:solidFill>
                        </a:defRPr>
                      </a:pPr>
                      <a:r>
                        <a:t>harmful_illegal_weapons</a:t>
                      </a:r>
                    </a:p>
                  </a:txBody>
                  <a:tcPr>
                    <a:solidFill>
                      <a:srgbClr val="141E3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50">
                          <a:solidFill>
                            <a:srgbClr val="F8FAFC"/>
                          </a:solidFill>
                        </a:defRPr>
                      </a:pPr>
                      <a:r>
                        <a:t>Illegal Weapons</a:t>
                      </a:r>
                    </a:p>
                  </a:txBody>
                  <a:tcPr>
                    <a:solidFill>
                      <a:srgbClr val="141E3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solidFill>
                            <a:srgbClr val="34D399"/>
                          </a:solidFill>
                        </a:defRPr>
                      </a:pPr>
                      <a:r>
                        <a:t>MEDIUM / BLOCK</a:t>
                      </a:r>
                    </a:p>
                  </a:txBody>
                  <a:tcPr>
                    <a:solidFill>
                      <a:srgbClr val="141E30"/>
                    </a:solidFill>
                  </a:tcPr>
                </a:tc>
              </a:tr>
              <a:tr h="388620">
                <a:tc>
                  <a:txBody>
                    <a:bodyPr/>
                    <a:lstStyle/>
                    <a:p>
                      <a:pPr algn="ctr">
                        <a:defRPr sz="850">
                          <a:solidFill>
                            <a:srgbClr val="F8FAFC"/>
                          </a:solidFill>
                        </a:defRPr>
                      </a:pPr>
                      <a:r>
                        <a:t>22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50">
                          <a:solidFill>
                            <a:srgbClr val="F8FAFC"/>
                          </a:solidFill>
                        </a:defRPr>
                      </a:pPr>
                      <a:r>
                        <a:t>harmful_self_harm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50">
                          <a:solidFill>
                            <a:srgbClr val="F8FAFC"/>
                          </a:solidFill>
                        </a:defRPr>
                      </a:pPr>
                      <a:r>
                        <a:t>Self Harm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solidFill>
                            <a:srgbClr val="34D399"/>
                          </a:solidFill>
                        </a:defRPr>
                      </a:pPr>
                      <a:r>
                        <a:t>MEDIUM / BLOCK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</a:tr>
              <a:tr h="388620">
                <a:tc>
                  <a:txBody>
                    <a:bodyPr/>
                    <a:lstStyle/>
                    <a:p>
                      <a:pPr algn="ctr">
                        <a:defRPr sz="850">
                          <a:solidFill>
                            <a:srgbClr val="F8FAFC"/>
                          </a:solidFill>
                        </a:defRPr>
                      </a:pPr>
                      <a:r>
                        <a:t>23</a:t>
                      </a:r>
                    </a:p>
                  </a:txBody>
                  <a:tcPr>
                    <a:solidFill>
                      <a:srgbClr val="141E3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50">
                          <a:solidFill>
                            <a:srgbClr val="F8FAFC"/>
                          </a:solidFill>
                        </a:defRPr>
                      </a:pPr>
                      <a:r>
                        <a:t>harmful_violence</a:t>
                      </a:r>
                    </a:p>
                  </a:txBody>
                  <a:tcPr>
                    <a:solidFill>
                      <a:srgbClr val="141E3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50">
                          <a:solidFill>
                            <a:srgbClr val="F8FAFC"/>
                          </a:solidFill>
                        </a:defRPr>
                      </a:pPr>
                      <a:r>
                        <a:t>Violence &amp; Threats</a:t>
                      </a:r>
                    </a:p>
                  </a:txBody>
                  <a:tcPr>
                    <a:solidFill>
                      <a:srgbClr val="141E3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solidFill>
                            <a:srgbClr val="34D399"/>
                          </a:solidFill>
                        </a:defRPr>
                      </a:pPr>
                      <a:r>
                        <a:t>MEDIUM / BLOCK</a:t>
                      </a:r>
                    </a:p>
                  </a:txBody>
                  <a:tcPr>
                    <a:solidFill>
                      <a:srgbClr val="141E30"/>
                    </a:solidFill>
                  </a:tcPr>
                </a:tc>
              </a:tr>
              <a:tr h="388620">
                <a:tc>
                  <a:txBody>
                    <a:bodyPr/>
                    <a:lstStyle/>
                    <a:p>
                      <a:pPr algn="ctr">
                        <a:defRPr sz="850">
                          <a:solidFill>
                            <a:srgbClr val="F8FAFC"/>
                          </a:solidFill>
                        </a:defRPr>
                      </a:pPr>
                      <a:r>
                        <a:t>24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50">
                          <a:solidFill>
                            <a:srgbClr val="F8FAFC"/>
                          </a:solidFill>
                        </a:defRPr>
                      </a:pPr>
                      <a:r>
                        <a:t>religion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50">
                          <a:solidFill>
                            <a:srgbClr val="F8FAFC"/>
                          </a:solidFill>
                        </a:defRPr>
                      </a:pPr>
                      <a:r>
                        <a:t>Religious Hate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solidFill>
                            <a:srgbClr val="34D399"/>
                          </a:solidFill>
                        </a:defRPr>
                      </a:pPr>
                      <a:r>
                        <a:t>MEDIUM / BLOCK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6217920" y="1463040"/>
          <a:ext cx="5242255" cy="29260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65760"/>
                <a:gridCol w="2011680"/>
                <a:gridCol w="1280160"/>
                <a:gridCol w="1584655"/>
              </a:tblGrid>
              <a:tr h="487680">
                <a:tc>
                  <a:txBody>
                    <a:bodyPr/>
                    <a:lstStyle/>
                    <a:p>
                      <a:pPr algn="ctr">
                        <a:defRPr b="1" sz="950">
                          <a:solidFill>
                            <a:srgbClr val="F8FAFC"/>
                          </a:solidFill>
                        </a:defRPr>
                      </a:pPr>
                      <a:r>
                        <a:t>#</a:t>
                      </a:r>
                    </a:p>
                  </a:txBody>
                  <a:tcPr>
                    <a:solidFill>
                      <a:srgbClr val="0F766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950">
                          <a:solidFill>
                            <a:srgbClr val="F8FAFC"/>
                          </a:solidFill>
                        </a:defRPr>
                      </a:pPr>
                      <a:r>
                        <a:t>Rule ID</a:t>
                      </a:r>
                    </a:p>
                  </a:txBody>
                  <a:tcPr>
                    <a:solidFill>
                      <a:srgbClr val="0F766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950">
                          <a:solidFill>
                            <a:srgbClr val="F8FAFC"/>
                          </a:solidFill>
                        </a:defRPr>
                      </a:pPr>
                      <a:r>
                        <a:t>Category</a:t>
                      </a:r>
                    </a:p>
                  </a:txBody>
                  <a:tcPr>
                    <a:solidFill>
                      <a:srgbClr val="0F766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950">
                          <a:solidFill>
                            <a:srgbClr val="F8FAFC"/>
                          </a:solidFill>
                        </a:defRPr>
                      </a:pPr>
                      <a:r>
                        <a:t>Action / Severity</a:t>
                      </a:r>
                    </a:p>
                  </a:txBody>
                  <a:tcPr>
                    <a:solidFill>
                      <a:srgbClr val="0F766E"/>
                    </a:solidFill>
                  </a:tcPr>
                </a:tc>
              </a:tr>
              <a:tr h="487680">
                <a:tc>
                  <a:txBody>
                    <a:bodyPr/>
                    <a:lstStyle/>
                    <a:p>
                      <a:pPr algn="ctr">
                        <a:defRPr sz="850">
                          <a:solidFill>
                            <a:srgbClr val="F8FAFC"/>
                          </a:solidFill>
                        </a:defRPr>
                      </a:pPr>
                      <a:r>
                        <a:t>25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50">
                          <a:solidFill>
                            <a:srgbClr val="F8FAFC"/>
                          </a:solidFill>
                        </a:defRPr>
                      </a:pPr>
                      <a:r>
                        <a:t>prompt_injection_data_exfil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50">
                          <a:solidFill>
                            <a:srgbClr val="F8FAFC"/>
                          </a:solidFill>
                        </a:defRPr>
                      </a:pPr>
                      <a:r>
                        <a:t>Data Exfiltration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solidFill>
                            <a:srgbClr val="34D399"/>
                          </a:solidFill>
                        </a:defRPr>
                      </a:pPr>
                      <a:r>
                        <a:t>MEDIUM / BLOCK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</a:tr>
              <a:tr h="487680">
                <a:tc>
                  <a:txBody>
                    <a:bodyPr/>
                    <a:lstStyle/>
                    <a:p>
                      <a:pPr algn="ctr">
                        <a:defRPr sz="850">
                          <a:solidFill>
                            <a:srgbClr val="F8FAFC"/>
                          </a:solidFill>
                        </a:defRPr>
                      </a:pPr>
                      <a:r>
                        <a:t>26</a:t>
                      </a:r>
                    </a:p>
                  </a:txBody>
                  <a:tcPr>
                    <a:solidFill>
                      <a:srgbClr val="141E3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50">
                          <a:solidFill>
                            <a:srgbClr val="F8FAFC"/>
                          </a:solidFill>
                        </a:defRPr>
                      </a:pPr>
                      <a:r>
                        <a:t>prompt_injection_jailbreak</a:t>
                      </a:r>
                    </a:p>
                  </a:txBody>
                  <a:tcPr>
                    <a:solidFill>
                      <a:srgbClr val="141E3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50">
                          <a:solidFill>
                            <a:srgbClr val="F8FAFC"/>
                          </a:solidFill>
                        </a:defRPr>
                      </a:pPr>
                      <a:r>
                        <a:t>Jailbreak Filter</a:t>
                      </a:r>
                    </a:p>
                  </a:txBody>
                  <a:tcPr>
                    <a:solidFill>
                      <a:srgbClr val="141E3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solidFill>
                            <a:srgbClr val="34D399"/>
                          </a:solidFill>
                        </a:defRPr>
                      </a:pPr>
                      <a:r>
                        <a:t>MEDIUM / BLOCK</a:t>
                      </a:r>
                    </a:p>
                  </a:txBody>
                  <a:tcPr>
                    <a:solidFill>
                      <a:srgbClr val="141E30"/>
                    </a:solidFill>
                  </a:tcPr>
                </a:tc>
              </a:tr>
              <a:tr h="487680">
                <a:tc>
                  <a:txBody>
                    <a:bodyPr/>
                    <a:lstStyle/>
                    <a:p>
                      <a:pPr algn="ctr">
                        <a:defRPr sz="850">
                          <a:solidFill>
                            <a:srgbClr val="F8FAFC"/>
                          </a:solidFill>
                        </a:defRPr>
                      </a:pPr>
                      <a:r>
                        <a:t>27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50">
                          <a:solidFill>
                            <a:srgbClr val="F8FAFC"/>
                          </a:solidFill>
                        </a:defRPr>
                      </a:pPr>
                      <a:r>
                        <a:t>prompt_injection_malicious_code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50">
                          <a:solidFill>
                            <a:srgbClr val="F8FAFC"/>
                          </a:solidFill>
                        </a:defRPr>
                      </a:pPr>
                      <a:r>
                        <a:t>Malicious Code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solidFill>
                            <a:srgbClr val="34D399"/>
                          </a:solidFill>
                        </a:defRPr>
                      </a:pPr>
                      <a:r>
                        <a:t>MEDIUM / BLOCK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</a:tr>
              <a:tr h="487680">
                <a:tc>
                  <a:txBody>
                    <a:bodyPr/>
                    <a:lstStyle/>
                    <a:p>
                      <a:pPr algn="ctr">
                        <a:defRPr sz="850">
                          <a:solidFill>
                            <a:srgbClr val="F8FAFC"/>
                          </a:solidFill>
                        </a:defRPr>
                      </a:pPr>
                      <a:r>
                        <a:t>28</a:t>
                      </a:r>
                    </a:p>
                  </a:txBody>
                  <a:tcPr>
                    <a:solidFill>
                      <a:srgbClr val="141E3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50">
                          <a:solidFill>
                            <a:srgbClr val="F8FAFC"/>
                          </a:solidFill>
                        </a:defRPr>
                      </a:pPr>
                      <a:r>
                        <a:t>prompt_injection_sql</a:t>
                      </a:r>
                    </a:p>
                  </a:txBody>
                  <a:tcPr>
                    <a:solidFill>
                      <a:srgbClr val="141E3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50">
                          <a:solidFill>
                            <a:srgbClr val="F8FAFC"/>
                          </a:solidFill>
                        </a:defRPr>
                      </a:pPr>
                      <a:r>
                        <a:t>SQL Injection</a:t>
                      </a:r>
                    </a:p>
                  </a:txBody>
                  <a:tcPr>
                    <a:solidFill>
                      <a:srgbClr val="141E3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solidFill>
                            <a:srgbClr val="34D399"/>
                          </a:solidFill>
                        </a:defRPr>
                      </a:pPr>
                      <a:r>
                        <a:t>MEDIUM / BLOCK</a:t>
                      </a:r>
                    </a:p>
                  </a:txBody>
                  <a:tcPr>
                    <a:solidFill>
                      <a:srgbClr val="141E30"/>
                    </a:solidFill>
                  </a:tcPr>
                </a:tc>
              </a:tr>
              <a:tr h="487680">
                <a:tc>
                  <a:txBody>
                    <a:bodyPr/>
                    <a:lstStyle/>
                    <a:p>
                      <a:pPr algn="ctr">
                        <a:defRPr sz="850">
                          <a:solidFill>
                            <a:srgbClr val="F8FAFC"/>
                          </a:solidFill>
                        </a:defRPr>
                      </a:pPr>
                      <a:r>
                        <a:t>29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50">
                          <a:solidFill>
                            <a:srgbClr val="F8FAFC"/>
                          </a:solidFill>
                        </a:defRPr>
                      </a:pPr>
                      <a:r>
                        <a:t>prompt_injection_sys_prompt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50">
                          <a:solidFill>
                            <a:srgbClr val="F8FAFC"/>
                          </a:solidFill>
                        </a:defRPr>
                      </a:pPr>
                      <a:r>
                        <a:t>System Prompt Leak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solidFill>
                            <a:srgbClr val="34D399"/>
                          </a:solidFill>
                        </a:defRPr>
                      </a:pPr>
                      <a:r>
                        <a:t>MEDIUM / BLOCK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</a:tr>
            </a:tbl>
          </a:graphicData>
        </a:graphic>
      </p:graphicFrame>
      <p:sp>
        <p:nvSpPr>
          <p:cNvPr id="7" name="Rounded Rectangle 6"/>
          <p:cNvSpPr/>
          <p:nvPr/>
        </p:nvSpPr>
        <p:spPr>
          <a:xfrm>
            <a:off x="6217920" y="4572000"/>
            <a:ext cx="5242255" cy="1554480"/>
          </a:xfrm>
          <a:prstGeom prst="roundRect">
            <a:avLst/>
          </a:prstGeom>
          <a:solidFill>
            <a:srgbClr val="1E293B"/>
          </a:solidFill>
          <a:ln>
            <a:solidFill>
              <a:srgbClr val="F8717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tIns="137160"/>
          <a:lstStyle/>
          <a:p>
            <a:pPr algn="ctr">
              <a:defRPr sz="1100" b="1">
                <a:solidFill>
                  <a:srgbClr val="F87171"/>
                </a:solidFill>
              </a:defRPr>
            </a:pPr>
            <a:r>
              <a:t>Critical Prompt Injection Protections:</a:t>
            </a:r>
          </a:p>
          <a:p>
            <a:pPr>
              <a:spcBef>
                <a:spcPts val="400"/>
              </a:spcBef>
              <a:defRPr sz="950">
                <a:solidFill>
                  <a:srgbClr val="F8FAFC"/>
                </a:solidFill>
              </a:defRPr>
            </a:pPr>
            <a:r>
              <a:t>• Jailbreak defense blocks DAN &amp; persona bypass attacks.</a:t>
            </a:r>
            <a:br/>
            <a:r>
              <a:t>• System prompt protection stops extraction of confidential context.</a:t>
            </a:r>
            <a:br/>
            <a:r>
              <a:t>• SQL &amp; Code filters prevent RAG injection payload execution.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38BDF8"/>
                </a:solidFill>
                <a:latin typeface="Calibri"/>
              </a:defRPr>
            </a:pPr>
            <a:r>
              <a:t>OKR KR4 DETAIL REPORT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594360"/>
            <a:ext cx="10698480" cy="5486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200" b="1">
                <a:solidFill>
                  <a:srgbClr val="F8FAFC"/>
                </a:solidFill>
                <a:latin typeface="Calibri"/>
              </a:defRPr>
            </a:pPr>
            <a:r>
              <a:t>Technical Integration &amp; Connector Resilience Mechanics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188720"/>
            <a:ext cx="10728655" cy="18288"/>
          </a:xfrm>
          <a:prstGeom prst="rect">
            <a:avLst/>
          </a:prstGeom>
          <a:solidFill>
            <a:srgbClr val="334155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731520" y="1463040"/>
            <a:ext cx="5669280" cy="4663440"/>
          </a:xfrm>
          <a:prstGeom prst="roundRect">
            <a:avLst/>
          </a:prstGeom>
          <a:solidFill>
            <a:srgbClr val="0A0F1A"/>
          </a:solidFill>
          <a:ln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tIns="228600"/>
          <a:lstStyle/>
          <a:p>
            <a:pPr algn="ctr">
              <a:defRPr sz="1000" b="1">
                <a:solidFill>
                  <a:srgbClr val="38BDF8"/>
                </a:solidFill>
              </a:defRPr>
            </a:pPr>
            <a:r>
              <a:t># Exception Handling Pattern (telkom-connector.py)</a:t>
            </a:r>
          </a:p>
          <a:p>
            <a:pPr>
              <a:spcBef>
                <a:spcPts val="800"/>
              </a:spcBef>
              <a:defRPr sz="950">
                <a:solidFill>
                  <a:srgbClr val="E2E8F0"/>
                </a:solidFill>
                <a:latin typeface="Consolas"/>
              </a:defRPr>
            </a:pPr>
            <a:r>
              <a:t>try:</a:t>
            </a:r>
            <a:br/>
            <a:r>
              <a:t>    response = requests.post(</a:t>
            </a:r>
            <a:br/>
            <a:r>
              <a:t>        LITELLM_GATEWAY_URL, </a:t>
            </a:r>
            <a:br/>
            <a:r>
              <a:t>        json=payload, </a:t>
            </a:r>
            <a:br/>
            <a:r>
              <a:t>        headers=headers</a:t>
            </a:r>
            <a:br/>
            <a:r>
              <a:t>    )</a:t>
            </a:r>
            <a:br/>
            <a:r>
              <a:t>    response.raise_for_status()</a:t>
            </a:r>
            <a:br/>
            <a:r>
              <a:t>    return response.json()["choices"][0]["message"]</a:t>
            </a:r>
            <a:br/>
            <a:r>
              <a:t>except requests.exceptions.HTTPError as err:</a:t>
            </a:r>
            <a:br/>
            <a:r>
              <a:t>    if err.response.status_code in [403, 405]:</a:t>
            </a:r>
            <a:br/>
            <a:r>
              <a:t>        # Guardrail block detected gracefully </a:t>
            </a:r>
            <a:br/>
            <a:r>
              <a:t>        logger.info(</a:t>
            </a:r>
            <a:br/>
            <a:r>
              <a:t>            f"Guardrail Block Intercepted "</a:t>
            </a:r>
            <a:br/>
            <a:r>
              <a:t>            f"[HTTP {err.response.status_code}]"</a:t>
            </a:r>
            <a:br/>
            <a:r>
              <a:t>        )</a:t>
            </a:r>
            <a:br/>
            <a:r>
              <a:t>        return "[SECURITY_GUARDRAIL_BLOCKED]"</a:t>
            </a:r>
            <a:br/>
            <a:r>
              <a:t>    else:</a:t>
            </a:r>
            <a:br/>
            <a:r>
              <a:t>        raise err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675120" y="1463040"/>
            <a:ext cx="4785055" cy="4663440"/>
          </a:xfrm>
          <a:prstGeom prst="roundRect">
            <a:avLst/>
          </a:prstGeom>
          <a:solidFill>
            <a:srgbClr val="1E293B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228600"/>
          <a:lstStyle/>
          <a:p>
            <a:pPr algn="ctr">
              <a:defRPr sz="1300" b="1">
                <a:solidFill>
                  <a:srgbClr val="34D399"/>
                </a:solidFill>
              </a:defRPr>
            </a:pPr>
            <a:r>
              <a:t>Integration &amp; Resilience Mechanics:</a:t>
            </a:r>
          </a:p>
          <a:p>
            <a:pPr>
              <a:spcBef>
                <a:spcPts val="1000"/>
              </a:spcBef>
            </a:pPr>
            <a:r>
              <a:rPr b="1" sz="1050">
                <a:solidFill>
                  <a:srgbClr val="38BDF8"/>
                </a:solidFill>
              </a:rPr>
              <a:t>•  Target Connectors: </a:t>
            </a:r>
            <a:r>
              <a:rPr sz="1000">
                <a:solidFill>
                  <a:srgbClr val="F8FAFC"/>
                </a:solidFill>
              </a:rPr>
              <a:t>telkom-connector.py and openai-connector.py inside Moonshot data engine.</a:t>
            </a:r>
          </a:p>
          <a:p>
            <a:pPr>
              <a:spcBef>
                <a:spcPts val="1000"/>
              </a:spcBef>
            </a:pPr>
            <a:r>
              <a:rPr b="1" sz="1050">
                <a:solidFill>
                  <a:srgbClr val="38BDF8"/>
                </a:solidFill>
              </a:rPr>
              <a:t>•  HTTP Status Mapping: </a:t>
            </a:r>
            <a:r>
              <a:rPr sz="1000">
                <a:solidFill>
                  <a:srgbClr val="F8FAFC"/>
                </a:solidFill>
              </a:rPr>
              <a:t>LiteLLM emits HTTP 403 (Forbidden) or HTTP 405 (Method Not Allowed) when guardrails block an input.</a:t>
            </a:r>
          </a:p>
          <a:p>
            <a:pPr>
              <a:spcBef>
                <a:spcPts val="1000"/>
              </a:spcBef>
            </a:pPr>
            <a:r>
              <a:rPr b="1" sz="1050">
                <a:solidFill>
                  <a:srgbClr val="38BDF8"/>
                </a:solidFill>
              </a:rPr>
              <a:t>•  Zero-Crash Guarantee: </a:t>
            </a:r>
            <a:r>
              <a:rPr sz="1000">
                <a:solidFill>
                  <a:srgbClr val="F8FAFC"/>
                </a:solidFill>
              </a:rPr>
              <a:t>The connector catches status 403/405 explicitly, logging threat interceptions as successful benchmark defenses instead of crashing execution.</a:t>
            </a:r>
          </a:p>
          <a:p>
            <a:pPr>
              <a:spcBef>
                <a:spcPts val="1000"/>
              </a:spcBef>
            </a:pPr>
            <a:r>
              <a:rPr b="1" sz="1050">
                <a:solidFill>
                  <a:srgbClr val="38BDF8"/>
                </a:solidFill>
              </a:rPr>
              <a:t>•  Audit Telemetry: </a:t>
            </a:r>
            <a:r>
              <a:rPr sz="1000">
                <a:solidFill>
                  <a:srgbClr val="F8FAFC"/>
                </a:solidFill>
              </a:rPr>
              <a:t>Every interception logs payload metadata and matched rule ID for security audit tracing.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38BDF8"/>
                </a:solidFill>
                <a:latin typeface="Calibri"/>
              </a:defRPr>
            </a:pPr>
            <a:r>
              <a:t>OKR KR4 DETAIL REPORT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594360"/>
            <a:ext cx="10698480" cy="5486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200" b="1">
                <a:solidFill>
                  <a:srgbClr val="F8FAFC"/>
                </a:solidFill>
                <a:latin typeface="Calibri"/>
              </a:defRPr>
            </a:pPr>
            <a:r>
              <a:t>Security Posture Impact &amp; Enterprise Standards Alignment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188720"/>
            <a:ext cx="10728655" cy="18288"/>
          </a:xfrm>
          <a:prstGeom prst="rect">
            <a:avLst/>
          </a:prstGeom>
          <a:solidFill>
            <a:srgbClr val="334155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731520" y="1463040"/>
            <a:ext cx="5212080" cy="4663440"/>
          </a:xfrm>
          <a:prstGeom prst="roundRect">
            <a:avLst/>
          </a:prstGeom>
          <a:solidFill>
            <a:srgbClr val="1E293B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tIns="228600"/>
          <a:lstStyle/>
          <a:p>
            <a:pPr algn="ctr">
              <a:defRPr sz="1300" b="1">
                <a:solidFill>
                  <a:srgbClr val="34D399"/>
                </a:solidFill>
              </a:defRPr>
            </a:pPr>
            <a:r>
              <a:t>Benchmark Score Posture Comparison: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914400" y="2103120"/>
          <a:ext cx="4846320" cy="3657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03120"/>
                <a:gridCol w="1371600"/>
                <a:gridCol w="1371600"/>
              </a:tblGrid>
              <a:tr h="914400"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8FAFC"/>
                          </a:solidFill>
                        </a:defRPr>
                      </a:pPr>
                      <a:r>
                        <a:t>Benchmark Category</a:t>
                      </a:r>
                    </a:p>
                  </a:txBody>
                  <a:tcPr>
                    <a:solidFill>
                      <a:srgbClr val="0F766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8FAFC"/>
                          </a:solidFill>
                        </a:defRPr>
                      </a:pPr>
                      <a:r>
                        <a:t>Baseline</a:t>
                      </a:r>
                    </a:p>
                  </a:txBody>
                  <a:tcPr>
                    <a:solidFill>
                      <a:srgbClr val="0F766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8FAFC"/>
                          </a:solidFill>
                        </a:defRPr>
                      </a:pPr>
                      <a:r>
                        <a:t>Guardrail Active</a:t>
                      </a:r>
                    </a:p>
                  </a:txBody>
                  <a:tcPr>
                    <a:solidFill>
                      <a:srgbClr val="0F766E"/>
                    </a:solidFill>
                  </a:tcPr>
                </a:tc>
              </a:tr>
              <a:tr h="914400"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F8FAFC"/>
                          </a:solidFill>
                        </a:defRPr>
                      </a:pPr>
                      <a:r>
                        <a:t>Data Disclosure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F87171"/>
                          </a:solidFill>
                        </a:defRPr>
                      </a:pPr>
                      <a:r>
                        <a:t>82.0%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34D399"/>
                          </a:solidFill>
                        </a:defRPr>
                      </a:pPr>
                      <a:r>
                        <a:t>100.0% ✔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</a:tr>
              <a:tr h="914400"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F8FAFC"/>
                          </a:solidFill>
                        </a:defRPr>
                      </a:pPr>
                      <a:r>
                        <a:t>Adversarial Attacks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F87171"/>
                          </a:solidFill>
                        </a:defRPr>
                      </a:pPr>
                      <a:r>
                        <a:t>54.0%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34D399"/>
                          </a:solidFill>
                        </a:defRPr>
                      </a:pPr>
                      <a:r>
                        <a:t>81.0% ✔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</a:tr>
              <a:tr h="914400"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F8FAFC"/>
                          </a:solidFill>
                        </a:defRPr>
                      </a:pPr>
                      <a:r>
                        <a:t>Toxicity Rejection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F87171"/>
                          </a:solidFill>
                        </a:defRPr>
                      </a:pPr>
                      <a:r>
                        <a:t>68.0%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34D399"/>
                          </a:solidFill>
                        </a:defRPr>
                      </a:pPr>
                      <a:r>
                        <a:t>88.0% ✔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</a:tr>
            </a:tbl>
          </a:graphicData>
        </a:graphic>
      </p:graphicFrame>
      <p:sp>
        <p:nvSpPr>
          <p:cNvPr id="7" name="Rounded Rectangle 6"/>
          <p:cNvSpPr/>
          <p:nvPr/>
        </p:nvSpPr>
        <p:spPr>
          <a:xfrm>
            <a:off x="6217920" y="1463040"/>
            <a:ext cx="5242255" cy="2194560"/>
          </a:xfrm>
          <a:prstGeom prst="roundRect">
            <a:avLst/>
          </a:prstGeom>
          <a:solidFill>
            <a:srgbClr val="1E293B"/>
          </a:solidFill>
          <a:ln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tIns="182880"/>
          <a:lstStyle/>
          <a:p>
            <a:pPr algn="ctr">
              <a:defRPr sz="1200" b="1">
                <a:solidFill>
                  <a:srgbClr val="38BDF8"/>
                </a:solidFill>
              </a:defRPr>
            </a:pPr>
            <a:r>
              <a:t>OWASP Top 10 for LLM Applications Alignment:</a:t>
            </a:r>
          </a:p>
          <a:p>
            <a:pPr>
              <a:spcBef>
                <a:spcPts val="400"/>
              </a:spcBef>
            </a:pPr>
            <a:r>
              <a:rPr b="1" sz="950">
                <a:solidFill>
                  <a:srgbClr val="34D399"/>
                </a:solidFill>
              </a:rPr>
              <a:t>• LLM01 Prompt Injection: </a:t>
            </a:r>
            <a:r>
              <a:rPr sz="950">
                <a:solidFill>
                  <a:srgbClr val="F8FAFC"/>
                </a:solidFill>
              </a:rPr>
              <a:t>5 dedicated rules block jailbreaks, system prompt dumps, SQL injection.</a:t>
            </a:r>
          </a:p>
          <a:p>
            <a:pPr>
              <a:spcBef>
                <a:spcPts val="400"/>
              </a:spcBef>
            </a:pPr>
            <a:r>
              <a:rPr b="1" sz="950">
                <a:solidFill>
                  <a:srgbClr val="34D399"/>
                </a:solidFill>
              </a:rPr>
              <a:t>• LLM02 Sensitive Info Disclosure: </a:t>
            </a:r>
            <a:r>
              <a:rPr sz="950">
                <a:solidFill>
                  <a:srgbClr val="F8FAFC"/>
                </a:solidFill>
              </a:rPr>
              <a:t>PHI disclosure and data exfiltration rules prevent sensitive data leaks.</a:t>
            </a:r>
          </a:p>
          <a:p>
            <a:pPr>
              <a:spcBef>
                <a:spcPts val="400"/>
              </a:spcBef>
            </a:pPr>
            <a:r>
              <a:rPr b="1" sz="950">
                <a:solidFill>
                  <a:srgbClr val="34D399"/>
                </a:solidFill>
              </a:rPr>
              <a:t>• LLM06 Excessive Agency: </a:t>
            </a:r>
            <a:r>
              <a:rPr sz="950">
                <a:solidFill>
                  <a:srgbClr val="F8FAFC"/>
                </a:solidFill>
              </a:rPr>
              <a:t>Pre-execution blocking prevents unauthorized model system overrides.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0" y="3931920"/>
            <a:ext cx="5242255" cy="2194560"/>
          </a:xfrm>
          <a:prstGeom prst="roundRect">
            <a:avLst/>
          </a:prstGeom>
          <a:solidFill>
            <a:srgbClr val="1E293B"/>
          </a:solidFill>
          <a:ln>
            <a:solidFill>
              <a:srgbClr val="FBBF2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tIns="182880"/>
          <a:lstStyle/>
          <a:p>
            <a:pPr algn="ctr">
              <a:defRPr sz="1200" b="1">
                <a:solidFill>
                  <a:srgbClr val="FBBF24"/>
                </a:solidFill>
              </a:defRPr>
            </a:pPr>
            <a:r>
              <a:t>NIST AI RMF 1.0 Compliance Alignment:</a:t>
            </a:r>
          </a:p>
          <a:p>
            <a:pPr>
              <a:spcBef>
                <a:spcPts val="600"/>
              </a:spcBef>
            </a:pPr>
            <a:r>
              <a:rPr b="1" sz="950">
                <a:solidFill>
                  <a:srgbClr val="FBBF24"/>
                </a:solidFill>
              </a:rPr>
              <a:t>• Measure 2.6 (Continuous Assessment): </a:t>
            </a:r>
            <a:r>
              <a:rPr sz="950">
                <a:solidFill>
                  <a:srgbClr val="F8FAFC"/>
                </a:solidFill>
              </a:rPr>
              <a:t>Inline proxy logging tracks threat counts continuously across benchmark runs.</a:t>
            </a:r>
          </a:p>
          <a:p>
            <a:pPr>
              <a:spcBef>
                <a:spcPts val="600"/>
              </a:spcBef>
            </a:pPr>
            <a:r>
              <a:rPr b="1" sz="950">
                <a:solidFill>
                  <a:srgbClr val="FBBF24"/>
                </a:solidFill>
              </a:rPr>
              <a:t>• Protect 3.1 (Automated Boundary Safeguards): </a:t>
            </a:r>
            <a:r>
              <a:rPr sz="950">
                <a:solidFill>
                  <a:srgbClr val="F8FAFC"/>
                </a:solidFill>
              </a:rPr>
              <a:t>Automatic MEDIUM severity BLOCK action halts unsafe payloads prior to inference.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38BDF8"/>
                </a:solidFill>
                <a:latin typeface="Calibri"/>
              </a:defRPr>
            </a:pPr>
            <a:r>
              <a:t>OKR KR4 DETAIL REPORT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594360"/>
            <a:ext cx="10698480" cy="5486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200" b="1">
                <a:solidFill>
                  <a:srgbClr val="F8FAFC"/>
                </a:solidFill>
                <a:latin typeface="Calibri"/>
              </a:defRPr>
            </a:pPr>
            <a:r>
              <a:t>LiteLLM Setup &amp; Visual Evidence Capture Gallery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188720"/>
            <a:ext cx="10728655" cy="18288"/>
          </a:xfrm>
          <a:prstGeom prst="rect">
            <a:avLst/>
          </a:prstGeom>
          <a:solidFill>
            <a:srgbClr val="334155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731520" y="1463040"/>
            <a:ext cx="5242255" cy="2194560"/>
          </a:xfrm>
          <a:prstGeom prst="roundRect">
            <a:avLst/>
          </a:prstGeom>
          <a:solidFill>
            <a:srgbClr val="1E293B"/>
          </a:solidFill>
          <a:ln>
            <a:solidFill>
              <a:srgbClr val="38BDF8"/>
            </a:solidFill>
            <a:prstDash val="sys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tIns="182880"/>
          <a:lstStyle/>
          <a:p>
            <a:pPr algn="ctr">
              <a:defRPr sz="1100" b="1">
                <a:solidFill>
                  <a:srgbClr val="38BDF8"/>
                </a:solidFill>
              </a:defRPr>
            </a:pPr>
            <a:r>
              <a:t>📷 ATTACHMENT SPACE 1: PROXY DASHBOARD</a:t>
            </a:r>
          </a:p>
          <a:p>
            <a:pPr>
              <a:spcBef>
                <a:spcPts val="400"/>
              </a:spcBef>
              <a:defRPr sz="950">
                <a:solidFill>
                  <a:srgbClr val="94A3B8"/>
                </a:solidFill>
              </a:defRPr>
            </a:pPr>
            <a:r>
              <a:t>LiteLLM Admin UI main landing page, model routes &amp; gateway health</a:t>
            </a:r>
          </a:p>
          <a:p>
            <a:pPr algn="ctr">
              <a:spcBef>
                <a:spcPts val="2400"/>
              </a:spcBef>
              <a:defRPr sz="1100" b="1">
                <a:solidFill>
                  <a:srgbClr val="34D399"/>
                </a:solidFill>
              </a:defRPr>
            </a:pPr>
            <a:r>
              <a:t>[ Paste / Attach Screen Capture Here ]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17920" y="1463040"/>
            <a:ext cx="5242255" cy="2194560"/>
          </a:xfrm>
          <a:prstGeom prst="roundRect">
            <a:avLst/>
          </a:prstGeom>
          <a:solidFill>
            <a:srgbClr val="1E293B"/>
          </a:solidFill>
          <a:ln>
            <a:solidFill>
              <a:srgbClr val="38BDF8"/>
            </a:solidFill>
            <a:prstDash val="sys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tIns="182880"/>
          <a:lstStyle/>
          <a:p>
            <a:pPr algn="ctr">
              <a:defRPr sz="1100" b="1">
                <a:solidFill>
                  <a:srgbClr val="38BDF8"/>
                </a:solidFill>
              </a:defRPr>
            </a:pPr>
            <a:r>
              <a:t>📷 ATTACHMENT SPACE 2: GUARDRAIL CONFIG</a:t>
            </a:r>
          </a:p>
          <a:p>
            <a:pPr>
              <a:spcBef>
                <a:spcPts val="400"/>
              </a:spcBef>
              <a:defRPr sz="950">
                <a:solidFill>
                  <a:srgbClr val="94A3B8"/>
                </a:solidFill>
              </a:defRPr>
            </a:pPr>
            <a:r>
              <a:t>Content Filter configuration screen showing active 29 rules &amp; BLOCK action</a:t>
            </a:r>
          </a:p>
          <a:p>
            <a:pPr algn="ctr">
              <a:spcBef>
                <a:spcPts val="2400"/>
              </a:spcBef>
              <a:defRPr sz="1100" b="1">
                <a:solidFill>
                  <a:srgbClr val="34D399"/>
                </a:solidFill>
              </a:defRPr>
            </a:pPr>
            <a:r>
              <a:t>[ Paste / Attach Screen Capture Here ]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3931920"/>
            <a:ext cx="5242255" cy="2194560"/>
          </a:xfrm>
          <a:prstGeom prst="roundRect">
            <a:avLst/>
          </a:prstGeom>
          <a:solidFill>
            <a:srgbClr val="1E293B"/>
          </a:solidFill>
          <a:ln>
            <a:solidFill>
              <a:srgbClr val="38BDF8"/>
            </a:solidFill>
            <a:prstDash val="sys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tIns="182880"/>
          <a:lstStyle/>
          <a:p>
            <a:pPr algn="ctr">
              <a:defRPr sz="1100" b="1">
                <a:solidFill>
                  <a:srgbClr val="38BDF8"/>
                </a:solidFill>
              </a:defRPr>
            </a:pPr>
            <a:r>
              <a:t>📷 ATTACHMENT SPACE 3: HTTP 403/405 BLOCK LOG</a:t>
            </a:r>
          </a:p>
          <a:p>
            <a:pPr>
              <a:spcBef>
                <a:spcPts val="400"/>
              </a:spcBef>
              <a:defRPr sz="950">
                <a:solidFill>
                  <a:srgbClr val="94A3B8"/>
                </a:solidFill>
              </a:defRPr>
            </a:pPr>
            <a:r>
              <a:t>Live terminal / Postman log showing HTTP 403/405 threat interception response</a:t>
            </a:r>
          </a:p>
          <a:p>
            <a:pPr algn="ctr">
              <a:spcBef>
                <a:spcPts val="2400"/>
              </a:spcBef>
              <a:defRPr sz="1100" b="1">
                <a:solidFill>
                  <a:srgbClr val="34D399"/>
                </a:solidFill>
              </a:defRPr>
            </a:pPr>
            <a:r>
              <a:t>[ Paste / Attach Screen Capture Here ]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0" y="3931920"/>
            <a:ext cx="5242255" cy="2194560"/>
          </a:xfrm>
          <a:prstGeom prst="roundRect">
            <a:avLst/>
          </a:prstGeom>
          <a:solidFill>
            <a:srgbClr val="1E293B"/>
          </a:solidFill>
          <a:ln>
            <a:solidFill>
              <a:srgbClr val="38BDF8"/>
            </a:solidFill>
            <a:prstDash val="sys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tIns="182880"/>
          <a:lstStyle/>
          <a:p>
            <a:pPr algn="ctr">
              <a:defRPr sz="1100" b="1">
                <a:solidFill>
                  <a:srgbClr val="38BDF8"/>
                </a:solidFill>
              </a:defRPr>
            </a:pPr>
            <a:r>
              <a:t>📷 ATTACHMENT SPACE 4: SECURITY TELEMETRY</a:t>
            </a:r>
          </a:p>
          <a:p>
            <a:pPr>
              <a:spcBef>
                <a:spcPts val="400"/>
              </a:spcBef>
              <a:defRPr sz="950">
                <a:solidFill>
                  <a:srgbClr val="94A3B8"/>
                </a:solidFill>
              </a:defRPr>
            </a:pPr>
            <a:r>
              <a:t>Request analytics dashboard showing blocked payload counts and category distribution</a:t>
            </a:r>
          </a:p>
          <a:p>
            <a:pPr algn="ctr">
              <a:spcBef>
                <a:spcPts val="2400"/>
              </a:spcBef>
              <a:defRPr sz="1100" b="1">
                <a:solidFill>
                  <a:srgbClr val="34D399"/>
                </a:solidFill>
              </a:defRPr>
            </a:pPr>
            <a:r>
              <a:t>[ Paste / Attach Screen Capture Here ]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38BDF8"/>
                </a:solidFill>
                <a:latin typeface="Calibri"/>
              </a:defRPr>
            </a:pPr>
            <a:r>
              <a:t>OKR KR4 DETAIL REPORT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594360"/>
            <a:ext cx="10698480" cy="5486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200" b="1">
                <a:solidFill>
                  <a:srgbClr val="F8FAFC"/>
                </a:solidFill>
                <a:latin typeface="Calibri"/>
              </a:defRPr>
            </a:pPr>
            <a:r>
              <a:t>Strategic Guardrail Roadmap &amp; Sign-Off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188720"/>
            <a:ext cx="10728655" cy="18288"/>
          </a:xfrm>
          <a:prstGeom prst="rect">
            <a:avLst/>
          </a:prstGeom>
          <a:solidFill>
            <a:srgbClr val="334155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731520" y="1463040"/>
            <a:ext cx="3474720" cy="329184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34D3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tIns="182880"/>
          <a:lstStyle/>
          <a:p>
            <a:pPr algn="ctr">
              <a:defRPr sz="1150" b="1">
                <a:solidFill>
                  <a:srgbClr val="34D399"/>
                </a:solidFill>
              </a:defRPr>
            </a:pPr>
            <a:r>
              <a:t>Phase 1: Gateway Filter (Q2 Completed)</a:t>
            </a:r>
          </a:p>
          <a:p>
            <a:pPr>
              <a:spcBef>
                <a:spcPts val="800"/>
              </a:spcBef>
              <a:defRPr sz="950">
                <a:solidFill>
                  <a:srgbClr val="F8FAFC"/>
                </a:solidFill>
              </a:defRPr>
            </a:pPr>
            <a:r>
              <a:t>LiteLLM Built-in Content Filter</a:t>
            </a:r>
            <a:br/>
            <a:r>
              <a:t>• 29 Active Rules</a:t>
            </a:r>
            <a:br/>
            <a:r>
              <a:t>• Zero Latency &amp; Zero API Cost</a:t>
            </a:r>
            <a:br/>
            <a:r>
              <a:t>• Moonshot Connector 403/405 Handling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370832" y="1463040"/>
            <a:ext cx="3474720" cy="329184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tIns="182880"/>
          <a:lstStyle/>
          <a:p>
            <a:pPr algn="ctr">
              <a:defRPr sz="1150" b="1">
                <a:solidFill>
                  <a:srgbClr val="38BDF8"/>
                </a:solidFill>
              </a:defRPr>
            </a:pPr>
            <a:r>
              <a:t>Phase 2: Sovereign GPU Guard (Q3 Planned)</a:t>
            </a:r>
          </a:p>
          <a:p>
            <a:pPr>
              <a:spcBef>
                <a:spcPts val="800"/>
              </a:spcBef>
              <a:defRPr sz="950">
                <a:solidFill>
                  <a:srgbClr val="F8FAFC"/>
                </a:solidFill>
              </a:defRPr>
            </a:pPr>
            <a:r>
              <a:t>Local Llama Guard 3 &amp; Prompt Guard</a:t>
            </a:r>
            <a:br/>
            <a:r>
              <a:t>• Deployed via vLLM on Local GPUs</a:t>
            </a:r>
            <a:br/>
            <a:r>
              <a:t>• Zero SaaS Subscription Fees</a:t>
            </a:r>
            <a:br/>
            <a:r>
              <a:t>• Wired via LiteLLM Custom Webhooks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010144" y="1463040"/>
            <a:ext cx="3474720" cy="329184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FBBF2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tIns="182880"/>
          <a:lstStyle/>
          <a:p>
            <a:pPr algn="ctr">
              <a:defRPr sz="1150" b="1">
                <a:solidFill>
                  <a:srgbClr val="FBBF24"/>
                </a:solidFill>
              </a:defRPr>
            </a:pPr>
            <a:r>
              <a:t>Phase 3: Semantic Governance (Q4 Roadmap)</a:t>
            </a:r>
          </a:p>
          <a:p>
            <a:pPr>
              <a:spcBef>
                <a:spcPts val="800"/>
              </a:spcBef>
              <a:defRPr sz="950">
                <a:solidFill>
                  <a:srgbClr val="F8FAFC"/>
                </a:solidFill>
              </a:defRPr>
            </a:pPr>
            <a:r>
              <a:t>NeMo Guardrails &amp; Guardrails AI</a:t>
            </a:r>
            <a:br/>
            <a:r>
              <a:t>• Colang Semantic Flow Enforcement</a:t>
            </a:r>
            <a:br/>
            <a:r>
              <a:t>• Provenance &amp; Hallucination Guard</a:t>
            </a:r>
            <a:br/>
            <a:r>
              <a:t>• Enterprise Sovereign Stack Completion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4937760"/>
            <a:ext cx="10728655" cy="1188720"/>
          </a:xfrm>
          <a:prstGeom prst="roundRect">
            <a:avLst/>
          </a:prstGeom>
          <a:solidFill>
            <a:srgbClr val="1E293B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tIns="137160"/>
          <a:lstStyle/>
          <a:p>
            <a:pPr algn="ctr">
              <a:defRPr sz="1200" b="1">
                <a:solidFill>
                  <a:srgbClr val="34D399"/>
                </a:solidFill>
              </a:defRPr>
            </a:pPr>
            <a:r>
              <a:t>KR 4 Sign-Off &amp; Governance Summary:</a:t>
            </a:r>
          </a:p>
          <a:p>
            <a:pPr>
              <a:spcBef>
                <a:spcPts val="400"/>
              </a:spcBef>
              <a:defRPr sz="1000">
                <a:solidFill>
                  <a:srgbClr val="F8FAFC"/>
                </a:solidFill>
              </a:defRPr>
            </a:pPr>
            <a:r>
              <a:t>Key Result 4 is formally signed off as COMPLETED (193% achievement). LiteLLM Gateway Guardrails provide robust, zero-cost inline protection across 29 content filter rules, establishing a solid security foundation for enterprise AI deployment in Telkom Group.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